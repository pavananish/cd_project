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87BC9B28-8A5C-3D49-0FAA-7CC47A3952A0}">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A12CA69B-25F3-864F-B4CC-12C72DE58C29}" type="datetimeFigureOut">
              <a:rPr lang="en-US" smtClean="0"/>
              <a:t>10/22/2026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90E5E1A3-221C-744A-BF05-DC9F7D63BC5C}" type="slidenum">
              <a:rPr lang="en-US" smtClean="0"/>
              <a:t>‹#›</a:t>
            </a:fld>
            <a:endParaRPr lang="en-US"/>
          </a:p>
        </p:txBody>
      </p:sp>
    </p:spTree>
    <p:extLst>
      <p:ext uri="{BB962C8B-B14F-4D97-AF65-F5344CB8AC3E}">
        <p14:creationId xmlns:p14="http://schemas.microsoft.com/office/powerpoint/2010/main" val="30584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Our mini project is the Variable Declaration Compiler. Introduce each team member by name. Each of the six members will explain one part of the compiler.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compiler reads a small program and checks its variable statements. The language supports declarations, initialization and assignments. The three objectives are token identification, syntax validation and duplicate-declaration checking. The example on the right shows the kind of statements supported. We will show it running in the separate demonstration.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overall architecture. Source code goes to the lexical analyzer, then the syntax analyzer, then duplicate declaration checking, and finally the user gets compilation feedback. Each of the next six slides is presented by the member who built that module. Confirm whether Flask and the web interface are part of the final design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Lexical analysis converts raw source text into tokens. The lexer reads the characters and groups them, for example int is a keyword, age an identifier, = an operator, 10 a literal and ; a symbol. The table is only an illustration of categories, not program output. lexer.py gives these tokens to the parser.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Context-Free Grammar describes what a valid statement looks like. Our six rules cover declarations, declarations with initialization, and assignments. FIRST and FOLLOW sets help the parser decide which rule to use. They are stored in grammar.py. Confirm with the code whether they are predefined before saying so, and edit the highlighted text on the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parser checks whether the token sequence follows the grammar. It receives tokens from the lexer and uses the rules defined in grammar.py. The first example matches a declaration rule. The second has no variable name, so it should not match any rule and is expected to be reported as invalid. These are expected differences only, not live results.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symbol table is the compiler's record of declared names. For each variable it stores information such as the data type. The table on the slide is an example to explain the idea, not real output. The semantic analyzer uses symbol_table.py to check whether a name was already declared.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analysis checks meaning that grammar alone cannot check. In our project, each new declaration is looked up in the symbol table. If the name is already there, a duplicate declaration is reported; otherwise it is added. Mention other checks only if they exist in the code, and edit the placeholder bullet accordingly.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integration part joins all modules so the user can enter code and receive feedback. Describe Flask and the HTML, CSS and JavaScript interface only as implemented, and edit the placeholders. test_compiler.py is used to prepare and run tests. Conclude: the compiler identifies tokens, validates syntax and detects duplicate declarations. Thank the audience.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4754880" cy="146304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3.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914400"/>
            <a:ext cx="4754880" cy="320040"/>
          </a:xfrm>
          <a:prstGeom prst="rect">
            <a:avLst/>
          </a:prstGeom>
          <a:noFill/>
          <a:ln/>
        </p:spPr>
        <p:txBody>
          <a:bodyPr wrap="square" lIns="0" tIns="0" rIns="0" bIns="0" rtlCol="0" anchor="ctr"/>
          <a:lstStyle/>
          <a:p>
            <a:pPr marL="0" indent="0">
              <a:buNone/>
            </a:pPr>
            <a:r>
              <a:rPr lang="en-US" sz="1400" b="1" kern="0" spc="200" dirty="0">
                <a:solidFill>
                  <a:schemeClr val="accent1"/>
                </a:solidFill>
              </a:rPr>
              <a:t>COMPILER DESIGN MINI PROJECT</a:t>
            </a:r>
            <a:endParaRPr lang="en-US" sz="1400" dirty="0"/>
          </a:p>
        </p:txBody>
      </p:sp>
      <p:sp>
        <p:nvSpPr>
          <p:cNvPr id="3" name="Text 0"/>
          <p:cNvSpPr>
            <a:spLocks noGrp="1"/>
          </p:cNvSpPr>
          <p:nvPr>
            <p:ph type="title" idx="100" hasCustomPrompt="1"/>
          </p:nvPr>
        </p:nvSpPr>
        <p:spPr>
          <a:xfrm>
            <a:off x="548640" y="1371600"/>
            <a:ext cx="4754880" cy="1463040"/>
          </a:xfrm>
          <a:prstGeom prst="rect">
            <a:avLst/>
          </a:prstGeom>
          <a:noFill/>
          <a:ln/>
        </p:spPr>
        <p:txBody>
          <a:bodyPr wrap="square" lIns="0" tIns="0" rIns="0" bIns="0" rtlCol="0" anchor="t"/>
          <a:lstStyle/>
          <a:p>
            <a:pPr marL="0" indent="0" algn="l">
              <a:buNone/>
            </a:pPr>
            <a:r>
              <a:rPr lang="en-US" sz="3600" b="1" dirty="0">
                <a:solidFill>
                  <a:schemeClr val="tx2"/>
                </a:solidFill>
              </a:rPr>
              <a:t>Variable Declaration Compiler</a:t>
            </a:r>
            <a:endParaRPr lang="en-US" sz="3600" dirty="0"/>
          </a:p>
        </p:txBody>
      </p:sp>
      <p:sp>
        <p:nvSpPr>
          <p:cNvPr id="4" name="Department and College"/>
          <p:cNvSpPr txBox="1"/>
          <p:nvPr/>
        </p:nvSpPr>
        <p:spPr>
          <a:xfrm>
            <a:off x="548640" y="3200400"/>
            <a:ext cx="4754880" cy="731520"/>
          </a:xfrm>
          <a:prstGeom prst="rect">
            <a:avLst/>
          </a:prstGeom>
          <a:noFill/>
          <a:ln/>
        </p:spPr>
        <p:txBody>
          <a:bodyPr wrap="square" lIns="0" tIns="0" rIns="0" bIns="0" rtlCol="0" anchor="ctr"/>
          <a:lstStyle/>
          <a:p>
            <a:pPr marL="0" indent="0">
              <a:spcAft>
                <a:spcPts val="400"/>
              </a:spcAft>
              <a:buNone/>
            </a:pPr>
            <a:r>
              <a:rPr lang="en-IN" sz="1600" dirty="0"/>
              <a:t>Computer Science Engineering </a:t>
            </a:r>
            <a:endParaRPr lang="en-US" sz="1600" dirty="0"/>
          </a:p>
          <a:p>
            <a:pPr marL="0" indent="0">
              <a:spcAft>
                <a:spcPts val="400"/>
              </a:spcAft>
              <a:buNone/>
            </a:pPr>
            <a:r>
              <a:rPr lang="en-IN" sz="1600" dirty="0"/>
              <a:t>AJCE</a:t>
            </a:r>
            <a:endParaRPr lang="en-US" sz="1600" dirty="0"/>
          </a:p>
        </p:txBody>
      </p:sp>
      <p:sp>
        <p:nvSpPr>
          <p:cNvPr id="5" name="Team Panel"/>
          <p:cNvSpPr/>
          <p:nvPr/>
        </p:nvSpPr>
        <p:spPr>
          <a:xfrm>
            <a:off x="5577840" y="822960"/>
            <a:ext cx="3108960" cy="3474720"/>
          </a:xfrm>
          <a:prstGeom prst="roundRect">
            <a:avLst>
              <a:gd name="adj" fmla="val 2941"/>
            </a:avLst>
          </a:prstGeom>
          <a:solidFill>
            <a:schemeClr val="bg2"/>
          </a:solidFill>
          <a:ln w="12700">
            <a:solidFill>
              <a:schemeClr val="accent4"/>
            </a:solidFill>
            <a:prstDash val="solid"/>
          </a:ln>
        </p:spPr>
      </p:sp>
      <p:sp>
        <p:nvSpPr>
          <p:cNvPr id="6" name="Team Heading"/>
          <p:cNvSpPr txBox="1"/>
          <p:nvPr/>
        </p:nvSpPr>
        <p:spPr>
          <a:xfrm>
            <a:off x="5806440" y="960120"/>
            <a:ext cx="2651760" cy="411480"/>
          </a:xfrm>
          <a:prstGeom prst="rect">
            <a:avLst/>
          </a:prstGeom>
          <a:noFill/>
          <a:ln/>
        </p:spPr>
        <p:txBody>
          <a:bodyPr wrap="square" lIns="0" tIns="0" rIns="0" bIns="0" rtlCol="0" anchor="ctr"/>
          <a:lstStyle/>
          <a:p>
            <a:pPr marL="0" indent="0">
              <a:buNone/>
            </a:pPr>
            <a:r>
              <a:rPr lang="en-US" sz="1800" b="1" dirty="0">
                <a:solidFill>
                  <a:schemeClr val="tx2"/>
                </a:solidFill>
              </a:rPr>
              <a:t>Team Members</a:t>
            </a:r>
            <a:endParaRPr lang="en-US" sz="1800" dirty="0"/>
          </a:p>
        </p:txBody>
      </p:sp>
      <p:sp>
        <p:nvSpPr>
          <p:cNvPr id="7" name="Team List"/>
          <p:cNvSpPr txBox="1"/>
          <p:nvPr/>
        </p:nvSpPr>
        <p:spPr>
          <a:xfrm>
            <a:off x="5806440" y="1463040"/>
            <a:ext cx="2880360" cy="2651760"/>
          </a:xfrm>
          <a:prstGeom prst="rect">
            <a:avLst/>
          </a:prstGeom>
          <a:noFill/>
          <a:ln/>
        </p:spPr>
        <p:txBody>
          <a:bodyPr wrap="square" lIns="0" tIns="0" rIns="0" bIns="0" rtlCol="0" anchor="t"/>
          <a:lstStyle/>
          <a:p>
            <a:pPr marL="0" indent="0">
              <a:spcAft>
                <a:spcPts val="1200"/>
              </a:spcAft>
              <a:buNone/>
            </a:pPr>
            <a:r>
              <a:rPr lang="en-US" sz="1400" dirty="0">
                <a:solidFill>
                  <a:schemeClr val="tx1"/>
                </a:solidFill>
              </a:rPr>
              <a:t>N</a:t>
            </a:r>
            <a:r>
              <a:rPr lang="en-IN" sz="1400" dirty="0" err="1">
                <a:solidFill>
                  <a:schemeClr val="tx1"/>
                </a:solidFill>
              </a:rPr>
              <a:t>ancy</a:t>
            </a:r>
            <a:r>
              <a:rPr lang="en-IN" sz="1400" dirty="0">
                <a:solidFill>
                  <a:schemeClr val="tx1"/>
                </a:solidFill>
              </a:rPr>
              <a:t> Sunil </a:t>
            </a:r>
            <a:r>
              <a:rPr lang="en-US" sz="1400" dirty="0">
                <a:solidFill>
                  <a:schemeClr val="tx1"/>
                </a:solidFill>
              </a:rPr>
              <a:t> – Roll No. </a:t>
            </a:r>
            <a:r>
              <a:rPr lang="en-IN" sz="1400" dirty="0"/>
              <a:t>7</a:t>
            </a:r>
            <a:endParaRPr lang="en-US" sz="1400" dirty="0"/>
          </a:p>
          <a:p>
            <a:pPr marL="0" indent="0">
              <a:spcAft>
                <a:spcPts val="1200"/>
              </a:spcAft>
              <a:buNone/>
            </a:pPr>
            <a:r>
              <a:rPr lang="en-IN" sz="1400" dirty="0" err="1"/>
              <a:t>Naveena</a:t>
            </a:r>
            <a:r>
              <a:rPr lang="en-IN" sz="1400" dirty="0"/>
              <a:t> Ruby Thomas  – Roll No. 11</a:t>
            </a:r>
          </a:p>
          <a:p>
            <a:pPr marL="0" indent="0">
              <a:spcAft>
                <a:spcPts val="1200"/>
              </a:spcAft>
              <a:buNone/>
            </a:pPr>
            <a:r>
              <a:rPr lang="en-IN" sz="1400" dirty="0" err="1">
                <a:solidFill>
                  <a:schemeClr val="tx1"/>
                </a:solidFill>
              </a:rPr>
              <a:t>Pavan</a:t>
            </a:r>
            <a:r>
              <a:rPr lang="en-IN" sz="1400" dirty="0">
                <a:solidFill>
                  <a:schemeClr val="tx1"/>
                </a:solidFill>
              </a:rPr>
              <a:t> V Anish </a:t>
            </a:r>
            <a:r>
              <a:rPr lang="en-US" sz="1400" dirty="0">
                <a:solidFill>
                  <a:schemeClr val="tx1"/>
                </a:solidFill>
              </a:rPr>
              <a:t>– Roll No</a:t>
            </a:r>
            <a:r>
              <a:rPr lang="en-IN" sz="1400" dirty="0"/>
              <a:t>. 22</a:t>
            </a:r>
            <a:endParaRPr lang="en-US" sz="1400" dirty="0"/>
          </a:p>
          <a:p>
            <a:pPr marL="0" indent="0">
              <a:spcAft>
                <a:spcPts val="1200"/>
              </a:spcAft>
              <a:buNone/>
            </a:pPr>
            <a:r>
              <a:rPr lang="en-IN" sz="1400" dirty="0"/>
              <a:t>Ronal </a:t>
            </a:r>
            <a:r>
              <a:rPr lang="en-IN" sz="1400" dirty="0" err="1"/>
              <a:t>Sajees</a:t>
            </a:r>
            <a:r>
              <a:rPr lang="en-US" sz="1400" dirty="0">
                <a:solidFill>
                  <a:schemeClr val="tx1"/>
                </a:solidFill>
              </a:rPr>
              <a:t> – Roll No. </a:t>
            </a:r>
            <a:r>
              <a:rPr lang="en-IN" sz="1400" dirty="0">
                <a:solidFill>
                  <a:schemeClr val="tx1"/>
                </a:solidFill>
              </a:rPr>
              <a:t>3</a:t>
            </a:r>
            <a:r>
              <a:rPr lang="en-US" sz="1400" dirty="0">
                <a:solidFill>
                  <a:schemeClr val="tx1"/>
                </a:solidFill>
              </a:rPr>
              <a:t>4</a:t>
            </a:r>
            <a:endParaRPr lang="en-US" sz="1400" dirty="0"/>
          </a:p>
          <a:p>
            <a:pPr marL="0" indent="0">
              <a:spcAft>
                <a:spcPts val="1200"/>
              </a:spcAft>
              <a:buNone/>
            </a:pPr>
            <a:r>
              <a:rPr lang="en-IN" sz="1400" dirty="0" err="1"/>
              <a:t>Sanjith</a:t>
            </a:r>
            <a:r>
              <a:rPr lang="en-IN" sz="1400" dirty="0"/>
              <a:t> </a:t>
            </a:r>
            <a:r>
              <a:rPr lang="en-IN" sz="1400" dirty="0" err="1"/>
              <a:t>Babu</a:t>
            </a:r>
            <a:r>
              <a:rPr lang="en-US" sz="1400" dirty="0">
                <a:solidFill>
                  <a:schemeClr val="tx1"/>
                </a:solidFill>
              </a:rPr>
              <a:t> – Roll No. </a:t>
            </a:r>
            <a:r>
              <a:rPr lang="en-IN" sz="1400" dirty="0">
                <a:solidFill>
                  <a:schemeClr val="tx1"/>
                </a:solidFill>
              </a:rPr>
              <a:t>48</a:t>
            </a:r>
            <a:endParaRPr lang="en-US" sz="1400" dirty="0"/>
          </a:p>
          <a:p>
            <a:pPr marL="0" indent="0">
              <a:spcAft>
                <a:spcPts val="1200"/>
              </a:spcAft>
              <a:buNone/>
            </a:pPr>
            <a:r>
              <a:rPr lang="en-IN" sz="1400" dirty="0"/>
              <a:t>Shawn Abraham </a:t>
            </a:r>
            <a:r>
              <a:rPr lang="en-US" sz="1400" dirty="0">
                <a:solidFill>
                  <a:schemeClr val="tx1"/>
                </a:solidFill>
              </a:rPr>
              <a:t> – Roll No. </a:t>
            </a:r>
            <a:r>
              <a:rPr lang="en-IN" sz="1400" dirty="0">
                <a:solidFill>
                  <a:schemeClr val="tx1"/>
                </a:solidFill>
              </a:rPr>
              <a:t>54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Project Overview</a:t>
            </a:r>
            <a:endParaRPr lang="en-US" sz="3200" dirty="0"/>
          </a:p>
        </p:txBody>
      </p:sp>
      <p:sp>
        <p:nvSpPr>
          <p:cNvPr id="3" name="Bullets"/>
          <p:cNvSpPr txBox="1"/>
          <p:nvPr/>
        </p:nvSpPr>
        <p:spPr>
          <a:xfrm>
            <a:off x="457200" y="1097280"/>
            <a:ext cx="4572000" cy="1280160"/>
          </a:xfrm>
          <a:prstGeom prst="rect">
            <a:avLst/>
          </a:prstGeom>
          <a:noFill/>
          <a:ln/>
        </p:spPr>
        <p:txBody>
          <a:bodyPr wrap="square" lIns="0" tIns="0" rIns="0" bIns="0" rtlCol="0" anchor="t"/>
          <a:lstStyle/>
          <a:p>
            <a:pPr marL="190500" indent="-190500">
              <a:spcAft>
                <a:spcPts val="1000"/>
              </a:spcAft>
              <a:buSzPct val="100000"/>
              <a:buChar char="•"/>
            </a:pPr>
            <a:r>
              <a:rPr lang="en-US" sz="1400" dirty="0">
                <a:solidFill>
                  <a:schemeClr val="tx1"/>
                </a:solidFill>
              </a:rPr>
              <a:t>The Variable Declaration Compiler reads a program and checks its variable statements.</a:t>
            </a:r>
            <a:endParaRPr lang="en-US" sz="1400" dirty="0"/>
          </a:p>
          <a:p>
            <a:pPr marL="190500" indent="-190500">
              <a:spcAft>
                <a:spcPts val="1000"/>
              </a:spcAft>
              <a:buSzPct val="100000"/>
              <a:buChar char="•"/>
            </a:pPr>
            <a:r>
              <a:rPr lang="en-US" sz="1400" dirty="0">
                <a:solidFill>
                  <a:schemeClr val="tx1"/>
                </a:solidFill>
              </a:rPr>
              <a:t>The language supports variable declarations, initialization and assignment statements.</a:t>
            </a:r>
            <a:endParaRPr lang="en-US" sz="1400" dirty="0"/>
          </a:p>
        </p:txBody>
      </p:sp>
      <p:sp>
        <p:nvSpPr>
          <p:cNvPr id="4" name="Objectives Heading"/>
          <p:cNvSpPr txBox="1"/>
          <p:nvPr/>
        </p:nvSpPr>
        <p:spPr>
          <a:xfrm>
            <a:off x="457200" y="2423160"/>
            <a:ext cx="4572000" cy="365760"/>
          </a:xfrm>
          <a:prstGeom prst="rect">
            <a:avLst/>
          </a:prstGeom>
          <a:noFill/>
          <a:ln/>
        </p:spPr>
        <p:txBody>
          <a:bodyPr wrap="square" lIns="0" tIns="0" rIns="0" bIns="0" rtlCol="0" anchor="ctr"/>
          <a:lstStyle/>
          <a:p>
            <a:pPr marL="0" indent="0">
              <a:buNone/>
            </a:pPr>
            <a:r>
              <a:rPr lang="en-US" sz="1800" b="1" dirty="0">
                <a:solidFill>
                  <a:schemeClr val="tx2"/>
                </a:solidFill>
              </a:rPr>
              <a:t>Main Objectives</a:t>
            </a:r>
            <a:endParaRPr lang="en-US" sz="1800" dirty="0"/>
          </a:p>
        </p:txBody>
      </p:sp>
      <p:sp>
        <p:nvSpPr>
          <p:cNvPr id="5" name="Objective Circle 1"/>
          <p:cNvSpPr/>
          <p:nvPr/>
        </p:nvSpPr>
        <p:spPr>
          <a:xfrm>
            <a:off x="457200" y="2907792"/>
            <a:ext cx="384048" cy="384048"/>
          </a:xfrm>
          <a:prstGeom prst="ellipse">
            <a:avLst/>
          </a:prstGeom>
          <a:solidFill>
            <a:schemeClr val="accent1"/>
          </a:solidFill>
          <a:ln w="12700">
            <a:solidFill>
              <a:schemeClr val="accent1"/>
            </a:solidFill>
            <a:prstDash val="solid"/>
          </a:ln>
        </p:spPr>
      </p:sp>
      <p:sp>
        <p:nvSpPr>
          <p:cNvPr id="6" name="Objective Digit 1"/>
          <p:cNvSpPr txBox="1"/>
          <p:nvPr/>
        </p:nvSpPr>
        <p:spPr>
          <a:xfrm>
            <a:off x="457200" y="290779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Objective 1"/>
          <p:cNvSpPr txBox="1"/>
          <p:nvPr/>
        </p:nvSpPr>
        <p:spPr>
          <a:xfrm>
            <a:off x="1005840" y="2880360"/>
            <a:ext cx="4023360" cy="438912"/>
          </a:xfrm>
          <a:prstGeom prst="rect">
            <a:avLst/>
          </a:prstGeom>
          <a:noFill/>
          <a:ln/>
        </p:spPr>
        <p:txBody>
          <a:bodyPr wrap="square" lIns="0" tIns="0" rIns="0" bIns="0" rtlCol="0" anchor="ctr"/>
          <a:lstStyle/>
          <a:p>
            <a:pPr marL="0" indent="0">
              <a:buNone/>
            </a:pPr>
            <a:r>
              <a:rPr lang="en-US" sz="1400" dirty="0">
                <a:solidFill>
                  <a:schemeClr val="tx1"/>
                </a:solidFill>
              </a:rPr>
              <a:t>Token identification</a:t>
            </a:r>
            <a:endParaRPr lang="en-US" sz="1400" dirty="0"/>
          </a:p>
        </p:txBody>
      </p:sp>
      <p:sp>
        <p:nvSpPr>
          <p:cNvPr id="8" name="Objective Circle 2"/>
          <p:cNvSpPr/>
          <p:nvPr/>
        </p:nvSpPr>
        <p:spPr>
          <a:xfrm>
            <a:off x="457200" y="3456432"/>
            <a:ext cx="384048" cy="384048"/>
          </a:xfrm>
          <a:prstGeom prst="ellipse">
            <a:avLst/>
          </a:prstGeom>
          <a:solidFill>
            <a:schemeClr val="accent1"/>
          </a:solidFill>
          <a:ln w="12700">
            <a:solidFill>
              <a:schemeClr val="accent1"/>
            </a:solidFill>
            <a:prstDash val="solid"/>
          </a:ln>
        </p:spPr>
      </p:sp>
      <p:sp>
        <p:nvSpPr>
          <p:cNvPr id="9" name="Objective Digit 2"/>
          <p:cNvSpPr txBox="1"/>
          <p:nvPr/>
        </p:nvSpPr>
        <p:spPr>
          <a:xfrm>
            <a:off x="457200" y="345643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0" name="Objective 2"/>
          <p:cNvSpPr txBox="1"/>
          <p:nvPr/>
        </p:nvSpPr>
        <p:spPr>
          <a:xfrm>
            <a:off x="1005840" y="3429000"/>
            <a:ext cx="4023360" cy="438912"/>
          </a:xfrm>
          <a:prstGeom prst="rect">
            <a:avLst/>
          </a:prstGeom>
          <a:noFill/>
          <a:ln/>
        </p:spPr>
        <p:txBody>
          <a:bodyPr wrap="square" lIns="0" tIns="0" rIns="0" bIns="0" rtlCol="0" anchor="ctr"/>
          <a:lstStyle/>
          <a:p>
            <a:pPr marL="0" indent="0">
              <a:buNone/>
            </a:pPr>
            <a:r>
              <a:rPr lang="en-US" sz="1400" dirty="0">
                <a:solidFill>
                  <a:schemeClr val="tx1"/>
                </a:solidFill>
              </a:rPr>
              <a:t>Syntax validation</a:t>
            </a:r>
            <a:endParaRPr lang="en-US" sz="1400" dirty="0"/>
          </a:p>
        </p:txBody>
      </p:sp>
      <p:sp>
        <p:nvSpPr>
          <p:cNvPr id="11" name="Objective Circle 3"/>
          <p:cNvSpPr/>
          <p:nvPr/>
        </p:nvSpPr>
        <p:spPr>
          <a:xfrm>
            <a:off x="457200" y="4005072"/>
            <a:ext cx="384048" cy="384048"/>
          </a:xfrm>
          <a:prstGeom prst="ellipse">
            <a:avLst/>
          </a:prstGeom>
          <a:solidFill>
            <a:schemeClr val="accent1"/>
          </a:solidFill>
          <a:ln w="12700">
            <a:solidFill>
              <a:schemeClr val="accent1"/>
            </a:solidFill>
            <a:prstDash val="solid"/>
          </a:ln>
        </p:spPr>
      </p:sp>
      <p:sp>
        <p:nvSpPr>
          <p:cNvPr id="12" name="Objective Digit 3"/>
          <p:cNvSpPr txBox="1"/>
          <p:nvPr/>
        </p:nvSpPr>
        <p:spPr>
          <a:xfrm>
            <a:off x="457200" y="400507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3" name="Objective 3"/>
          <p:cNvSpPr txBox="1"/>
          <p:nvPr/>
        </p:nvSpPr>
        <p:spPr>
          <a:xfrm>
            <a:off x="1005840" y="3977640"/>
            <a:ext cx="4023360" cy="438912"/>
          </a:xfrm>
          <a:prstGeom prst="rect">
            <a:avLst/>
          </a:prstGeom>
          <a:noFill/>
          <a:ln/>
        </p:spPr>
        <p:txBody>
          <a:bodyPr wrap="square" lIns="0" tIns="0" rIns="0" bIns="0" rtlCol="0" anchor="ctr"/>
          <a:lstStyle/>
          <a:p>
            <a:pPr marL="0" indent="0">
              <a:buNone/>
            </a:pPr>
            <a:r>
              <a:rPr lang="en-US" sz="1400" dirty="0">
                <a:solidFill>
                  <a:schemeClr val="tx1"/>
                </a:solidFill>
              </a:rPr>
              <a:t>Duplicate-declaration checking</a:t>
            </a:r>
            <a:endParaRPr lang="en-US" sz="1400" dirty="0"/>
          </a:p>
        </p:txBody>
      </p:sp>
      <p:sp>
        <p:nvSpPr>
          <p:cNvPr id="14" name="Code Card"/>
          <p:cNvSpPr/>
          <p:nvPr/>
        </p:nvSpPr>
        <p:spPr>
          <a:xfrm>
            <a:off x="5394960" y="1097280"/>
            <a:ext cx="3291840" cy="2377440"/>
          </a:xfrm>
          <a:prstGeom prst="roundRect">
            <a:avLst>
              <a:gd name="adj" fmla="val 3846"/>
            </a:avLst>
          </a:prstGeom>
          <a:solidFill>
            <a:schemeClr val="bg2"/>
          </a:solidFill>
          <a:ln w="12700">
            <a:solidFill>
              <a:schemeClr val="accent4"/>
            </a:solidFill>
            <a:prstDash val="solid"/>
          </a:ln>
        </p:spPr>
      </p:sp>
      <p:sp>
        <p:nvSpPr>
          <p:cNvPr id="15" name="Code Caption"/>
          <p:cNvSpPr txBox="1"/>
          <p:nvPr/>
        </p:nvSpPr>
        <p:spPr>
          <a:xfrm>
            <a:off x="5577840" y="1188720"/>
            <a:ext cx="2926080" cy="320040"/>
          </a:xfrm>
          <a:prstGeom prst="rect">
            <a:avLst/>
          </a:prstGeom>
          <a:noFill/>
          <a:ln/>
        </p:spPr>
        <p:txBody>
          <a:bodyPr wrap="square" lIns="0" tIns="0" rIns="0" bIns="0" rtlCol="0" anchor="ctr"/>
          <a:lstStyle/>
          <a:p>
            <a:pPr marL="0" indent="0">
              <a:buNone/>
            </a:pPr>
            <a:r>
              <a:rPr lang="en-US" sz="1200" b="1" dirty="0">
                <a:solidFill>
                  <a:schemeClr val="accent1"/>
                </a:solidFill>
              </a:rPr>
              <a:t>Example of supported syntax</a:t>
            </a:r>
            <a:endParaRPr lang="en-US" sz="1200" dirty="0"/>
          </a:p>
        </p:txBody>
      </p:sp>
      <p:sp>
        <p:nvSpPr>
          <p:cNvPr id="16" name="Code Example"/>
          <p:cNvSpPr txBox="1"/>
          <p:nvPr/>
        </p:nvSpPr>
        <p:spPr>
          <a:xfrm>
            <a:off x="5577840" y="1600200"/>
            <a:ext cx="2926080" cy="1737360"/>
          </a:xfrm>
          <a:prstGeom prst="rect">
            <a:avLst/>
          </a:prstGeom>
          <a:noFill/>
          <a:ln/>
        </p:spPr>
        <p:txBody>
          <a:bodyPr wrap="square" lIns="0" tIns="0" rIns="0" bIns="0" rtlCol="0" anchor="t"/>
          <a:lstStyle/>
          <a:p>
            <a:pPr marL="0" indent="0">
              <a:spcAft>
                <a:spcPts val="800"/>
              </a:spcAft>
              <a:buNone/>
            </a:pPr>
            <a:r>
              <a:rPr lang="en-US" sz="1600" dirty="0">
                <a:solidFill>
                  <a:schemeClr val="tx2"/>
                </a:solidFill>
                <a:latin typeface="Courier New" pitchFamily="34" charset="0"/>
                <a:ea typeface="Courier New" pitchFamily="34" charset="-122"/>
                <a:cs typeface="Courier New" pitchFamily="34" charset="-120"/>
              </a:rPr>
              <a:t>int count;</a:t>
            </a:r>
            <a:endParaRPr lang="en-US" sz="1600" dirty="0"/>
          </a:p>
          <a:p>
            <a:pPr marL="0" indent="0">
              <a:spcAft>
                <a:spcPts val="800"/>
              </a:spcAft>
              <a:buNone/>
            </a:pPr>
            <a:r>
              <a:rPr lang="en-US" sz="1600" dirty="0">
                <a:solidFill>
                  <a:schemeClr val="tx2"/>
                </a:solidFill>
                <a:latin typeface="Courier New" pitchFamily="34" charset="0"/>
                <a:ea typeface="Courier New" pitchFamily="34" charset="-122"/>
                <a:cs typeface="Courier New" pitchFamily="34" charset="-120"/>
              </a:rPr>
              <a:t>float price = 45.5;</a:t>
            </a:r>
            <a:endParaRPr lang="en-US" sz="1600" dirty="0"/>
          </a:p>
          <a:p>
            <a:pPr marL="0" indent="0">
              <a:spcAft>
                <a:spcPts val="800"/>
              </a:spcAft>
              <a:buNone/>
            </a:pPr>
            <a:r>
              <a:rPr lang="en-US" sz="1600" dirty="0">
                <a:solidFill>
                  <a:schemeClr val="tx2"/>
                </a:solidFill>
                <a:latin typeface="Courier New" pitchFamily="34" charset="0"/>
                <a:ea typeface="Courier New" pitchFamily="34" charset="-122"/>
                <a:cs typeface="Courier New" pitchFamily="34" charset="-120"/>
              </a:rPr>
              <a:t>char grade = 'A';</a:t>
            </a:r>
            <a:endParaRPr lang="en-US" sz="1600" dirty="0"/>
          </a:p>
          <a:p>
            <a:pPr marL="0" indent="0">
              <a:spcAft>
                <a:spcPts val="800"/>
              </a:spcAft>
              <a:buNone/>
            </a:pPr>
            <a:r>
              <a:rPr lang="en-US" sz="1600" dirty="0">
                <a:solidFill>
                  <a:schemeClr val="tx2"/>
                </a:solidFill>
                <a:latin typeface="Courier New" pitchFamily="34" charset="0"/>
                <a:ea typeface="Courier New" pitchFamily="34" charset="-122"/>
                <a:cs typeface="Courier New" pitchFamily="34" charset="-120"/>
              </a:rPr>
              <a:t>count = 10;</a:t>
            </a:r>
            <a:endParaRPr lang="en-US" sz="1600" dirty="0"/>
          </a:p>
        </p:txBody>
      </p:sp>
      <p:sp>
        <p:nvSpPr>
          <p:cNvPr id="17" name="Types Card"/>
          <p:cNvSpPr/>
          <p:nvPr/>
        </p:nvSpPr>
        <p:spPr>
          <a:xfrm>
            <a:off x="5394960" y="3657600"/>
            <a:ext cx="3291840" cy="914400"/>
          </a:xfrm>
          <a:prstGeom prst="roundRect">
            <a:avLst>
              <a:gd name="adj" fmla="val 10000"/>
            </a:avLst>
          </a:prstGeom>
          <a:solidFill>
            <a:schemeClr val="bg2"/>
          </a:solidFill>
          <a:ln w="12700">
            <a:solidFill>
              <a:schemeClr val="accent4"/>
            </a:solidFill>
            <a:prstDash val="solid"/>
          </a:ln>
        </p:spPr>
      </p:sp>
      <p:sp>
        <p:nvSpPr>
          <p:cNvPr id="18" name="Types Text"/>
          <p:cNvSpPr txBox="1"/>
          <p:nvPr/>
        </p:nvSpPr>
        <p:spPr>
          <a:xfrm>
            <a:off x="5577840" y="3703320"/>
            <a:ext cx="2926080" cy="822960"/>
          </a:xfrm>
          <a:prstGeom prst="rect">
            <a:avLst/>
          </a:prstGeom>
          <a:noFill/>
          <a:ln/>
        </p:spPr>
        <p:txBody>
          <a:bodyPr wrap="square" lIns="0" tIns="0" rIns="0" bIns="0" rtlCol="0" anchor="ctr"/>
          <a:lstStyle/>
          <a:p>
            <a:pPr marL="0" indent="0">
              <a:spcAft>
                <a:spcPts val="400"/>
              </a:spcAft>
              <a:buNone/>
            </a:pPr>
            <a:r>
              <a:rPr lang="en-US" sz="1200" b="1" dirty="0">
                <a:solidFill>
                  <a:schemeClr val="accent1"/>
                </a:solidFill>
              </a:rPr>
              <a:t>Supported types</a:t>
            </a:r>
            <a:endParaRPr lang="en-US" sz="1200" dirty="0"/>
          </a:p>
          <a:p>
            <a:pPr marL="0" indent="0">
              <a:spcAft>
                <a:spcPts val="400"/>
              </a:spcAft>
              <a:buNone/>
            </a:pPr>
            <a:r>
              <a:rPr lang="en-US" sz="1400" dirty="0">
                <a:solidFill>
                  <a:schemeClr val="tx1"/>
                </a:solidFill>
              </a:rPr>
              <a:t>int, float, double, char, bool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System Architecture</a:t>
            </a:r>
            <a:endParaRPr lang="en-US" sz="3200" dirty="0"/>
          </a:p>
        </p:txBody>
      </p:sp>
      <p:sp>
        <p:nvSpPr>
          <p:cNvPr id="3" name="Stage Card 1"/>
          <p:cNvSpPr/>
          <p:nvPr/>
        </p:nvSpPr>
        <p:spPr>
          <a:xfrm>
            <a:off x="571500" y="1188720"/>
            <a:ext cx="1417320" cy="2606040"/>
          </a:xfrm>
          <a:prstGeom prst="roundRect">
            <a:avLst>
              <a:gd name="adj" fmla="val 6452"/>
            </a:avLst>
          </a:prstGeom>
          <a:solidFill>
            <a:schemeClr val="bg2"/>
          </a:solidFill>
          <a:ln w="12700">
            <a:solidFill>
              <a:schemeClr val="accent4"/>
            </a:solidFill>
            <a:prstDash val="solid"/>
          </a:ln>
        </p:spPr>
      </p:sp>
      <p:sp>
        <p:nvSpPr>
          <p:cNvPr id="4" name="Stage Circle 1"/>
          <p:cNvSpPr/>
          <p:nvPr/>
        </p:nvSpPr>
        <p:spPr>
          <a:xfrm>
            <a:off x="708660" y="1325880"/>
            <a:ext cx="365760" cy="365760"/>
          </a:xfrm>
          <a:prstGeom prst="ellipse">
            <a:avLst/>
          </a:prstGeom>
          <a:solidFill>
            <a:schemeClr val="accent1"/>
          </a:solidFill>
          <a:ln w="12700">
            <a:solidFill>
              <a:schemeClr val="accent1"/>
            </a:solidFill>
            <a:prstDash val="solid"/>
          </a:ln>
        </p:spPr>
      </p:sp>
      <p:sp>
        <p:nvSpPr>
          <p:cNvPr id="5" name="Stage Digit 1"/>
          <p:cNvSpPr txBox="1"/>
          <p:nvPr/>
        </p:nvSpPr>
        <p:spPr>
          <a:xfrm>
            <a:off x="708660" y="13258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Stage Title 1"/>
          <p:cNvSpPr txBox="1"/>
          <p:nvPr/>
        </p:nvSpPr>
        <p:spPr>
          <a:xfrm>
            <a:off x="708660" y="1783080"/>
            <a:ext cx="1143000" cy="731520"/>
          </a:xfrm>
          <a:prstGeom prst="rect">
            <a:avLst/>
          </a:prstGeom>
          <a:noFill/>
          <a:ln/>
        </p:spPr>
        <p:txBody>
          <a:bodyPr wrap="square" lIns="0" tIns="0" rIns="0" bIns="0" rtlCol="0" anchor="t"/>
          <a:lstStyle/>
          <a:p>
            <a:pPr marL="0" indent="0">
              <a:buNone/>
            </a:pPr>
            <a:r>
              <a:rPr lang="en-US" sz="1400" b="1" dirty="0">
                <a:solidFill>
                  <a:schemeClr val="tx2"/>
                </a:solidFill>
              </a:rPr>
              <a:t>Source Code</a:t>
            </a:r>
            <a:endParaRPr lang="en-US" sz="1400" dirty="0"/>
          </a:p>
        </p:txBody>
      </p:sp>
      <p:sp>
        <p:nvSpPr>
          <p:cNvPr id="7" name="Stage Text 1"/>
          <p:cNvSpPr txBox="1"/>
          <p:nvPr/>
        </p:nvSpPr>
        <p:spPr>
          <a:xfrm>
            <a:off x="708660" y="2560320"/>
            <a:ext cx="1143000" cy="777240"/>
          </a:xfrm>
          <a:prstGeom prst="rect">
            <a:avLst/>
          </a:prstGeom>
          <a:noFill/>
          <a:ln/>
        </p:spPr>
        <p:txBody>
          <a:bodyPr wrap="square" lIns="0" tIns="0" rIns="0" bIns="0" rtlCol="0" anchor="t"/>
          <a:lstStyle/>
          <a:p>
            <a:pPr marL="0" indent="0">
              <a:buNone/>
            </a:pPr>
            <a:r>
              <a:rPr lang="en-US" sz="1200" dirty="0">
                <a:solidFill>
                  <a:schemeClr val="tx1"/>
                </a:solidFill>
              </a:rPr>
              <a:t>The user enters the variable statements.</a:t>
            </a:r>
            <a:endParaRPr lang="en-US" sz="1200" dirty="0"/>
          </a:p>
        </p:txBody>
      </p:sp>
      <p:sp>
        <p:nvSpPr>
          <p:cNvPr id="8" name="Arrow 1"/>
          <p:cNvSpPr/>
          <p:nvPr/>
        </p:nvSpPr>
        <p:spPr>
          <a:xfrm>
            <a:off x="2007108" y="2377440"/>
            <a:ext cx="192024" cy="256032"/>
          </a:xfrm>
          <a:prstGeom prst="rightArrow">
            <a:avLst/>
          </a:prstGeom>
          <a:solidFill>
            <a:schemeClr val="accent1"/>
          </a:solidFill>
          <a:ln w="12700">
            <a:solidFill>
              <a:schemeClr val="accent1"/>
            </a:solidFill>
            <a:prstDash val="solid"/>
          </a:ln>
        </p:spPr>
      </p:sp>
      <p:sp>
        <p:nvSpPr>
          <p:cNvPr id="9" name="Stage Card 2"/>
          <p:cNvSpPr/>
          <p:nvPr/>
        </p:nvSpPr>
        <p:spPr>
          <a:xfrm>
            <a:off x="2217420" y="1188720"/>
            <a:ext cx="1417320" cy="2606040"/>
          </a:xfrm>
          <a:prstGeom prst="roundRect">
            <a:avLst>
              <a:gd name="adj" fmla="val 6452"/>
            </a:avLst>
          </a:prstGeom>
          <a:solidFill>
            <a:schemeClr val="bg2"/>
          </a:solidFill>
          <a:ln w="12700">
            <a:solidFill>
              <a:schemeClr val="accent4"/>
            </a:solidFill>
            <a:prstDash val="solid"/>
          </a:ln>
        </p:spPr>
      </p:sp>
      <p:sp>
        <p:nvSpPr>
          <p:cNvPr id="10" name="Stage Circle 2"/>
          <p:cNvSpPr/>
          <p:nvPr/>
        </p:nvSpPr>
        <p:spPr>
          <a:xfrm>
            <a:off x="2354580" y="1325880"/>
            <a:ext cx="365760" cy="365760"/>
          </a:xfrm>
          <a:prstGeom prst="ellipse">
            <a:avLst/>
          </a:prstGeom>
          <a:solidFill>
            <a:schemeClr val="accent1"/>
          </a:solidFill>
          <a:ln w="12700">
            <a:solidFill>
              <a:schemeClr val="accent1"/>
            </a:solidFill>
            <a:prstDash val="solid"/>
          </a:ln>
        </p:spPr>
      </p:sp>
      <p:sp>
        <p:nvSpPr>
          <p:cNvPr id="11" name="Stage Digit 2"/>
          <p:cNvSpPr txBox="1"/>
          <p:nvPr/>
        </p:nvSpPr>
        <p:spPr>
          <a:xfrm>
            <a:off x="2354580" y="13258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2" name="Stage Title 2"/>
          <p:cNvSpPr txBox="1"/>
          <p:nvPr/>
        </p:nvSpPr>
        <p:spPr>
          <a:xfrm>
            <a:off x="2354580" y="1783080"/>
            <a:ext cx="1143000" cy="731520"/>
          </a:xfrm>
          <a:prstGeom prst="rect">
            <a:avLst/>
          </a:prstGeom>
          <a:noFill/>
          <a:ln/>
        </p:spPr>
        <p:txBody>
          <a:bodyPr wrap="square" lIns="0" tIns="0" rIns="0" bIns="0" rtlCol="0" anchor="t"/>
          <a:lstStyle/>
          <a:p>
            <a:pPr marL="0" indent="0">
              <a:buNone/>
            </a:pPr>
            <a:r>
              <a:rPr lang="en-US" sz="1400" b="1" dirty="0">
                <a:solidFill>
                  <a:schemeClr val="tx2"/>
                </a:solidFill>
              </a:rPr>
              <a:t>Lexical Analyzer</a:t>
            </a:r>
            <a:endParaRPr lang="en-US" sz="1400" dirty="0"/>
          </a:p>
        </p:txBody>
      </p:sp>
      <p:sp>
        <p:nvSpPr>
          <p:cNvPr id="13" name="Stage Text 2"/>
          <p:cNvSpPr txBox="1"/>
          <p:nvPr/>
        </p:nvSpPr>
        <p:spPr>
          <a:xfrm>
            <a:off x="2354580" y="2560320"/>
            <a:ext cx="1143000" cy="777240"/>
          </a:xfrm>
          <a:prstGeom prst="rect">
            <a:avLst/>
          </a:prstGeom>
          <a:noFill/>
          <a:ln/>
        </p:spPr>
        <p:txBody>
          <a:bodyPr wrap="square" lIns="0" tIns="0" rIns="0" bIns="0" rtlCol="0" anchor="t"/>
          <a:lstStyle/>
          <a:p>
            <a:pPr marL="0" indent="0">
              <a:buNone/>
            </a:pPr>
            <a:r>
              <a:rPr lang="en-US" sz="1200" dirty="0">
                <a:solidFill>
                  <a:schemeClr val="tx1"/>
                </a:solidFill>
              </a:rPr>
              <a:t>Splits the code into tokens.</a:t>
            </a:r>
            <a:endParaRPr lang="en-US" sz="1200" dirty="0"/>
          </a:p>
        </p:txBody>
      </p:sp>
      <p:sp>
        <p:nvSpPr>
          <p:cNvPr id="14" name="Stage File 2"/>
          <p:cNvSpPr txBox="1"/>
          <p:nvPr/>
        </p:nvSpPr>
        <p:spPr>
          <a:xfrm>
            <a:off x="2354580" y="3383280"/>
            <a:ext cx="1143000" cy="274320"/>
          </a:xfrm>
          <a:prstGeom prst="rect">
            <a:avLst/>
          </a:prstGeom>
          <a:noFill/>
          <a:ln/>
        </p:spPr>
        <p:txBody>
          <a:bodyPr wrap="square" lIns="0" tIns="0" rIns="0" bIns="0" rtlCol="0" anchor="ctr"/>
          <a:lstStyle/>
          <a:p>
            <a:pPr marL="0" indent="0">
              <a:buNone/>
            </a:pPr>
            <a:r>
              <a:rPr lang="en-US" sz="1000" b="1" dirty="0">
                <a:solidFill>
                  <a:schemeClr val="accent1"/>
                </a:solidFill>
              </a:rPr>
              <a:t>lexer.py</a:t>
            </a:r>
            <a:endParaRPr lang="en-US" sz="1000" dirty="0"/>
          </a:p>
        </p:txBody>
      </p:sp>
      <p:sp>
        <p:nvSpPr>
          <p:cNvPr id="15" name="Arrow 2"/>
          <p:cNvSpPr/>
          <p:nvPr/>
        </p:nvSpPr>
        <p:spPr>
          <a:xfrm>
            <a:off x="3653028" y="2377440"/>
            <a:ext cx="192024" cy="256032"/>
          </a:xfrm>
          <a:prstGeom prst="rightArrow">
            <a:avLst/>
          </a:prstGeom>
          <a:solidFill>
            <a:schemeClr val="accent1"/>
          </a:solidFill>
          <a:ln w="12700">
            <a:solidFill>
              <a:schemeClr val="accent1"/>
            </a:solidFill>
            <a:prstDash val="solid"/>
          </a:ln>
        </p:spPr>
      </p:sp>
      <p:sp>
        <p:nvSpPr>
          <p:cNvPr id="16" name="Stage Card 3"/>
          <p:cNvSpPr/>
          <p:nvPr/>
        </p:nvSpPr>
        <p:spPr>
          <a:xfrm>
            <a:off x="3863340" y="1188720"/>
            <a:ext cx="1417320" cy="2606040"/>
          </a:xfrm>
          <a:prstGeom prst="roundRect">
            <a:avLst>
              <a:gd name="adj" fmla="val 6452"/>
            </a:avLst>
          </a:prstGeom>
          <a:solidFill>
            <a:schemeClr val="bg2"/>
          </a:solidFill>
          <a:ln w="12700">
            <a:solidFill>
              <a:schemeClr val="accent4"/>
            </a:solidFill>
            <a:prstDash val="solid"/>
          </a:ln>
        </p:spPr>
      </p:sp>
      <p:sp>
        <p:nvSpPr>
          <p:cNvPr id="17" name="Stage Circle 3"/>
          <p:cNvSpPr/>
          <p:nvPr/>
        </p:nvSpPr>
        <p:spPr>
          <a:xfrm>
            <a:off x="4000500" y="1325880"/>
            <a:ext cx="365760" cy="365760"/>
          </a:xfrm>
          <a:prstGeom prst="ellipse">
            <a:avLst/>
          </a:prstGeom>
          <a:solidFill>
            <a:schemeClr val="accent1"/>
          </a:solidFill>
          <a:ln w="12700">
            <a:solidFill>
              <a:schemeClr val="accent1"/>
            </a:solidFill>
            <a:prstDash val="solid"/>
          </a:ln>
        </p:spPr>
      </p:sp>
      <p:sp>
        <p:nvSpPr>
          <p:cNvPr id="18" name="Stage Digit 3"/>
          <p:cNvSpPr txBox="1"/>
          <p:nvPr/>
        </p:nvSpPr>
        <p:spPr>
          <a:xfrm>
            <a:off x="4000500" y="13258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9" name="Stage Title 3"/>
          <p:cNvSpPr txBox="1"/>
          <p:nvPr/>
        </p:nvSpPr>
        <p:spPr>
          <a:xfrm>
            <a:off x="4000500" y="1783080"/>
            <a:ext cx="1143000" cy="731520"/>
          </a:xfrm>
          <a:prstGeom prst="rect">
            <a:avLst/>
          </a:prstGeom>
          <a:noFill/>
          <a:ln/>
        </p:spPr>
        <p:txBody>
          <a:bodyPr wrap="square" lIns="0" tIns="0" rIns="0" bIns="0" rtlCol="0" anchor="t"/>
          <a:lstStyle/>
          <a:p>
            <a:pPr marL="0" indent="0">
              <a:buNone/>
            </a:pPr>
            <a:r>
              <a:rPr lang="en-US" sz="1400" b="1" dirty="0">
                <a:solidFill>
                  <a:schemeClr val="tx2"/>
                </a:solidFill>
              </a:rPr>
              <a:t>Syntax Analyzer</a:t>
            </a:r>
            <a:endParaRPr lang="en-US" sz="1400" dirty="0"/>
          </a:p>
        </p:txBody>
      </p:sp>
      <p:sp>
        <p:nvSpPr>
          <p:cNvPr id="20" name="Stage Text 3"/>
          <p:cNvSpPr txBox="1"/>
          <p:nvPr/>
        </p:nvSpPr>
        <p:spPr>
          <a:xfrm>
            <a:off x="4000500" y="2560320"/>
            <a:ext cx="1143000" cy="777240"/>
          </a:xfrm>
          <a:prstGeom prst="rect">
            <a:avLst/>
          </a:prstGeom>
          <a:noFill/>
          <a:ln/>
        </p:spPr>
        <p:txBody>
          <a:bodyPr wrap="square" lIns="0" tIns="0" rIns="0" bIns="0" rtlCol="0" anchor="t"/>
          <a:lstStyle/>
          <a:p>
            <a:pPr marL="0" indent="0">
              <a:buNone/>
            </a:pPr>
            <a:r>
              <a:rPr lang="en-US" sz="1200" dirty="0">
                <a:solidFill>
                  <a:schemeClr val="tx1"/>
                </a:solidFill>
              </a:rPr>
              <a:t>Checks tokens against the grammar rules.</a:t>
            </a:r>
            <a:endParaRPr lang="en-US" sz="1200" dirty="0"/>
          </a:p>
        </p:txBody>
      </p:sp>
      <p:sp>
        <p:nvSpPr>
          <p:cNvPr id="21" name="Stage File 3"/>
          <p:cNvSpPr txBox="1"/>
          <p:nvPr/>
        </p:nvSpPr>
        <p:spPr>
          <a:xfrm>
            <a:off x="4000500" y="3383280"/>
            <a:ext cx="1143000" cy="274320"/>
          </a:xfrm>
          <a:prstGeom prst="rect">
            <a:avLst/>
          </a:prstGeom>
          <a:noFill/>
          <a:ln/>
        </p:spPr>
        <p:txBody>
          <a:bodyPr wrap="square" lIns="0" tIns="0" rIns="0" bIns="0" rtlCol="0" anchor="ctr"/>
          <a:lstStyle/>
          <a:p>
            <a:pPr marL="0" indent="0">
              <a:buNone/>
            </a:pPr>
            <a:r>
              <a:rPr lang="en-US" sz="1000" b="1" dirty="0">
                <a:solidFill>
                  <a:schemeClr val="accent1"/>
                </a:solidFill>
              </a:rPr>
              <a:t>parser.py</a:t>
            </a:r>
            <a:endParaRPr lang="en-US" sz="1000" dirty="0"/>
          </a:p>
        </p:txBody>
      </p:sp>
      <p:sp>
        <p:nvSpPr>
          <p:cNvPr id="22" name="Arrow 3"/>
          <p:cNvSpPr/>
          <p:nvPr/>
        </p:nvSpPr>
        <p:spPr>
          <a:xfrm>
            <a:off x="5298948" y="2377440"/>
            <a:ext cx="192024" cy="256032"/>
          </a:xfrm>
          <a:prstGeom prst="rightArrow">
            <a:avLst/>
          </a:prstGeom>
          <a:solidFill>
            <a:schemeClr val="accent1"/>
          </a:solidFill>
          <a:ln w="12700">
            <a:solidFill>
              <a:schemeClr val="accent1"/>
            </a:solidFill>
            <a:prstDash val="solid"/>
          </a:ln>
        </p:spPr>
      </p:sp>
      <p:sp>
        <p:nvSpPr>
          <p:cNvPr id="23" name="Stage Card 4"/>
          <p:cNvSpPr/>
          <p:nvPr/>
        </p:nvSpPr>
        <p:spPr>
          <a:xfrm>
            <a:off x="5509260" y="1188720"/>
            <a:ext cx="1417320" cy="2606040"/>
          </a:xfrm>
          <a:prstGeom prst="roundRect">
            <a:avLst>
              <a:gd name="adj" fmla="val 6452"/>
            </a:avLst>
          </a:prstGeom>
          <a:solidFill>
            <a:schemeClr val="bg2"/>
          </a:solidFill>
          <a:ln w="12700">
            <a:solidFill>
              <a:schemeClr val="accent4"/>
            </a:solidFill>
            <a:prstDash val="solid"/>
          </a:ln>
        </p:spPr>
      </p:sp>
      <p:sp>
        <p:nvSpPr>
          <p:cNvPr id="24" name="Stage Circle 4"/>
          <p:cNvSpPr/>
          <p:nvPr/>
        </p:nvSpPr>
        <p:spPr>
          <a:xfrm>
            <a:off x="5646420" y="1325880"/>
            <a:ext cx="365760" cy="365760"/>
          </a:xfrm>
          <a:prstGeom prst="ellipse">
            <a:avLst/>
          </a:prstGeom>
          <a:solidFill>
            <a:schemeClr val="accent1"/>
          </a:solidFill>
          <a:ln w="12700">
            <a:solidFill>
              <a:schemeClr val="accent1"/>
            </a:solidFill>
            <a:prstDash val="solid"/>
          </a:ln>
        </p:spPr>
      </p:sp>
      <p:sp>
        <p:nvSpPr>
          <p:cNvPr id="25" name="Stage Digit 4"/>
          <p:cNvSpPr txBox="1"/>
          <p:nvPr/>
        </p:nvSpPr>
        <p:spPr>
          <a:xfrm>
            <a:off x="5646420" y="13258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6" name="Stage Title 4"/>
          <p:cNvSpPr txBox="1"/>
          <p:nvPr/>
        </p:nvSpPr>
        <p:spPr>
          <a:xfrm>
            <a:off x="5646420" y="1783080"/>
            <a:ext cx="1143000" cy="731520"/>
          </a:xfrm>
          <a:prstGeom prst="rect">
            <a:avLst/>
          </a:prstGeom>
          <a:noFill/>
          <a:ln/>
        </p:spPr>
        <p:txBody>
          <a:bodyPr wrap="square" lIns="0" tIns="0" rIns="0" bIns="0" rtlCol="0" anchor="t"/>
          <a:lstStyle/>
          <a:p>
            <a:pPr marL="0" indent="0">
              <a:buNone/>
            </a:pPr>
            <a:r>
              <a:rPr lang="en-US" sz="1400" b="1" dirty="0">
                <a:solidFill>
                  <a:schemeClr val="tx2"/>
                </a:solidFill>
              </a:rPr>
              <a:t>Duplicate Declaration Checking</a:t>
            </a:r>
            <a:endParaRPr lang="en-US" sz="1400" dirty="0"/>
          </a:p>
        </p:txBody>
      </p:sp>
      <p:sp>
        <p:nvSpPr>
          <p:cNvPr id="27" name="Stage Text 4"/>
          <p:cNvSpPr txBox="1"/>
          <p:nvPr/>
        </p:nvSpPr>
        <p:spPr>
          <a:xfrm>
            <a:off x="5646420" y="2560320"/>
            <a:ext cx="1143000" cy="777240"/>
          </a:xfrm>
          <a:prstGeom prst="rect">
            <a:avLst/>
          </a:prstGeom>
          <a:noFill/>
          <a:ln/>
        </p:spPr>
        <p:txBody>
          <a:bodyPr wrap="square" lIns="0" tIns="0" rIns="0" bIns="0" rtlCol="0" anchor="t"/>
          <a:lstStyle/>
          <a:p>
            <a:pPr marL="0" indent="0">
              <a:buNone/>
            </a:pPr>
            <a:r>
              <a:rPr lang="en-US" sz="1200" dirty="0">
                <a:solidFill>
                  <a:schemeClr val="tx1"/>
                </a:solidFill>
              </a:rPr>
              <a:t>Finds variables declared more than once.</a:t>
            </a:r>
            <a:endParaRPr lang="en-US" sz="1200" dirty="0"/>
          </a:p>
        </p:txBody>
      </p:sp>
      <p:sp>
        <p:nvSpPr>
          <p:cNvPr id="28" name="Stage File 4"/>
          <p:cNvSpPr txBox="1"/>
          <p:nvPr/>
        </p:nvSpPr>
        <p:spPr>
          <a:xfrm>
            <a:off x="5646420" y="3383280"/>
            <a:ext cx="1417320" cy="274320"/>
          </a:xfrm>
          <a:prstGeom prst="rect">
            <a:avLst/>
          </a:prstGeom>
          <a:noFill/>
          <a:ln/>
        </p:spPr>
        <p:txBody>
          <a:bodyPr wrap="square" lIns="0" tIns="0" rIns="0" bIns="0" rtlCol="0" anchor="ctr"/>
          <a:lstStyle/>
          <a:p>
            <a:pPr marL="0" indent="0">
              <a:buNone/>
            </a:pPr>
            <a:r>
              <a:rPr lang="en-US" sz="1000" b="1" dirty="0">
                <a:solidFill>
                  <a:schemeClr val="accent1"/>
                </a:solidFill>
              </a:rPr>
              <a:t>semantic_analyzer.py</a:t>
            </a:r>
            <a:endParaRPr lang="en-US" sz="1000" dirty="0"/>
          </a:p>
        </p:txBody>
      </p:sp>
      <p:sp>
        <p:nvSpPr>
          <p:cNvPr id="29" name="Arrow 4"/>
          <p:cNvSpPr/>
          <p:nvPr/>
        </p:nvSpPr>
        <p:spPr>
          <a:xfrm>
            <a:off x="6944868" y="2377440"/>
            <a:ext cx="192024" cy="256032"/>
          </a:xfrm>
          <a:prstGeom prst="rightArrow">
            <a:avLst/>
          </a:prstGeom>
          <a:solidFill>
            <a:schemeClr val="accent1"/>
          </a:solidFill>
          <a:ln w="12700">
            <a:solidFill>
              <a:schemeClr val="accent1"/>
            </a:solidFill>
            <a:prstDash val="solid"/>
          </a:ln>
        </p:spPr>
      </p:sp>
      <p:sp>
        <p:nvSpPr>
          <p:cNvPr id="30" name="Stage Card 5"/>
          <p:cNvSpPr/>
          <p:nvPr/>
        </p:nvSpPr>
        <p:spPr>
          <a:xfrm>
            <a:off x="7155180" y="1188720"/>
            <a:ext cx="1417320" cy="2606040"/>
          </a:xfrm>
          <a:prstGeom prst="roundRect">
            <a:avLst>
              <a:gd name="adj" fmla="val 6452"/>
            </a:avLst>
          </a:prstGeom>
          <a:solidFill>
            <a:schemeClr val="bg2"/>
          </a:solidFill>
          <a:ln w="12700">
            <a:solidFill>
              <a:schemeClr val="accent4"/>
            </a:solidFill>
            <a:prstDash val="solid"/>
          </a:ln>
        </p:spPr>
      </p:sp>
      <p:sp>
        <p:nvSpPr>
          <p:cNvPr id="31" name="Stage Circle 5"/>
          <p:cNvSpPr/>
          <p:nvPr/>
        </p:nvSpPr>
        <p:spPr>
          <a:xfrm>
            <a:off x="7292340" y="1325880"/>
            <a:ext cx="365760" cy="365760"/>
          </a:xfrm>
          <a:prstGeom prst="ellipse">
            <a:avLst/>
          </a:prstGeom>
          <a:solidFill>
            <a:schemeClr val="accent1"/>
          </a:solidFill>
          <a:ln w="12700">
            <a:solidFill>
              <a:schemeClr val="accent1"/>
            </a:solidFill>
            <a:prstDash val="solid"/>
          </a:ln>
        </p:spPr>
      </p:sp>
      <p:sp>
        <p:nvSpPr>
          <p:cNvPr id="32" name="Stage Digit 5"/>
          <p:cNvSpPr txBox="1"/>
          <p:nvPr/>
        </p:nvSpPr>
        <p:spPr>
          <a:xfrm>
            <a:off x="7292340" y="13258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33" name="Stage Title 5"/>
          <p:cNvSpPr txBox="1"/>
          <p:nvPr/>
        </p:nvSpPr>
        <p:spPr>
          <a:xfrm>
            <a:off x="7292340" y="1783080"/>
            <a:ext cx="1143000" cy="731520"/>
          </a:xfrm>
          <a:prstGeom prst="rect">
            <a:avLst/>
          </a:prstGeom>
          <a:noFill/>
          <a:ln/>
        </p:spPr>
        <p:txBody>
          <a:bodyPr wrap="square" lIns="0" tIns="0" rIns="0" bIns="0" rtlCol="0" anchor="t"/>
          <a:lstStyle/>
          <a:p>
            <a:pPr marL="0" indent="0">
              <a:buNone/>
            </a:pPr>
            <a:r>
              <a:rPr lang="en-US" sz="1400" b="1" dirty="0">
                <a:solidFill>
                  <a:schemeClr val="tx2"/>
                </a:solidFill>
              </a:rPr>
              <a:t>Compilation Feedback</a:t>
            </a:r>
            <a:endParaRPr lang="en-US" sz="1400" dirty="0"/>
          </a:p>
        </p:txBody>
      </p:sp>
      <p:sp>
        <p:nvSpPr>
          <p:cNvPr id="34" name="Stage Text 5"/>
          <p:cNvSpPr txBox="1"/>
          <p:nvPr/>
        </p:nvSpPr>
        <p:spPr>
          <a:xfrm>
            <a:off x="7292340" y="2560320"/>
            <a:ext cx="1143000" cy="777240"/>
          </a:xfrm>
          <a:prstGeom prst="rect">
            <a:avLst/>
          </a:prstGeom>
          <a:noFill/>
          <a:ln/>
        </p:spPr>
        <p:txBody>
          <a:bodyPr wrap="square" lIns="0" tIns="0" rIns="0" bIns="0" rtlCol="0" anchor="t"/>
          <a:lstStyle/>
          <a:p>
            <a:pPr marL="0" indent="0">
              <a:buNone/>
            </a:pPr>
            <a:r>
              <a:rPr lang="en-US" sz="1200" dirty="0">
                <a:solidFill>
                  <a:schemeClr val="tx1"/>
                </a:solidFill>
              </a:rPr>
              <a:t>Reports whether the code is valid or lists errors.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Lexical Analyzer</a:t>
            </a:r>
            <a:endParaRPr lang="en-US" sz="3200" dirty="0"/>
          </a:p>
        </p:txBody>
      </p:sp>
      <p:sp>
        <p:nvSpPr>
          <p:cNvPr id="5" name="File Badge"/>
          <p:cNvSpPr/>
          <p:nvPr/>
        </p:nvSpPr>
        <p:spPr>
          <a:xfrm>
            <a:off x="7406640" y="960120"/>
            <a:ext cx="1280160" cy="365760"/>
          </a:xfrm>
          <a:prstGeom prst="roundRect">
            <a:avLst>
              <a:gd name="adj" fmla="val 25000"/>
            </a:avLst>
          </a:prstGeom>
          <a:solidFill>
            <a:schemeClr val="accent1"/>
          </a:solidFill>
          <a:ln w="12700">
            <a:solidFill>
              <a:schemeClr val="accent1"/>
            </a:solidFill>
            <a:prstDash val="solid"/>
          </a:ln>
        </p:spPr>
      </p:sp>
      <p:sp>
        <p:nvSpPr>
          <p:cNvPr id="6" name="File Name"/>
          <p:cNvSpPr txBox="1"/>
          <p:nvPr/>
        </p:nvSpPr>
        <p:spPr>
          <a:xfrm>
            <a:off x="7406640" y="960120"/>
            <a:ext cx="1280160" cy="365760"/>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lexer.py</a:t>
            </a:r>
            <a:endParaRPr lang="en-US" sz="1300" dirty="0"/>
          </a:p>
        </p:txBody>
      </p:sp>
      <p:sp>
        <p:nvSpPr>
          <p:cNvPr id="7" name="Bullets"/>
          <p:cNvSpPr txBox="1"/>
          <p:nvPr/>
        </p:nvSpPr>
        <p:spPr>
          <a:xfrm>
            <a:off x="457200" y="1554480"/>
            <a:ext cx="4572000" cy="3108960"/>
          </a:xfrm>
          <a:prstGeom prst="rect">
            <a:avLst/>
          </a:prstGeom>
          <a:noFill/>
          <a:ln/>
        </p:spPr>
        <p:txBody>
          <a:bodyPr wrap="square" lIns="0" tIns="0" rIns="0" bIns="0" rtlCol="0" anchor="t"/>
          <a:lstStyle/>
          <a:p>
            <a:pPr marL="190500" indent="-190500">
              <a:spcAft>
                <a:spcPts val="1000"/>
              </a:spcAft>
              <a:buSzPct val="100000"/>
              <a:buChar char="•"/>
            </a:pPr>
            <a:r>
              <a:rPr lang="en-US" sz="1400" dirty="0">
                <a:solidFill>
                  <a:schemeClr val="tx1"/>
                </a:solidFill>
              </a:rPr>
              <a:t>Lexical analysis is the first phase: it turns source text into tokens.</a:t>
            </a:r>
            <a:endParaRPr lang="en-US" sz="1400" dirty="0"/>
          </a:p>
          <a:p>
            <a:pPr marL="190500" indent="-190500">
              <a:spcAft>
                <a:spcPts val="1000"/>
              </a:spcAft>
              <a:buSzPct val="100000"/>
              <a:buChar char="•"/>
            </a:pPr>
            <a:r>
              <a:rPr lang="en-US" sz="1400" dirty="0">
                <a:solidFill>
                  <a:schemeClr val="tx1"/>
                </a:solidFill>
              </a:rPr>
              <a:t>The lexer reads the code character by character and groups characters into tokens.</a:t>
            </a:r>
            <a:endParaRPr lang="en-US" sz="1400" dirty="0"/>
          </a:p>
          <a:p>
            <a:pPr marL="190500" indent="-190500">
              <a:spcAft>
                <a:spcPts val="1000"/>
              </a:spcAft>
              <a:buSzPct val="100000"/>
              <a:buChar char="•"/>
            </a:pPr>
            <a:r>
              <a:rPr lang="en-US" sz="1400" dirty="0">
                <a:solidFill>
                  <a:schemeClr val="tx1"/>
                </a:solidFill>
              </a:rPr>
              <a:t>Token types: keywords (int, float), identifiers (age), operators (=), literals (10) and symbols (;).</a:t>
            </a:r>
            <a:endParaRPr lang="en-US" sz="1400" dirty="0"/>
          </a:p>
          <a:p>
            <a:pPr marL="190500" indent="-190500">
              <a:spcAft>
                <a:spcPts val="1000"/>
              </a:spcAft>
              <a:buSzPct val="100000"/>
              <a:buChar char="•"/>
            </a:pPr>
            <a:r>
              <a:rPr lang="en-US" sz="1400" dirty="0">
                <a:solidFill>
                  <a:schemeClr val="tx1"/>
                </a:solidFill>
              </a:rPr>
              <a:t>lexer.py supplies the tokens that the parser uses next.</a:t>
            </a:r>
            <a:endParaRPr lang="en-US" sz="1400" dirty="0"/>
          </a:p>
        </p:txBody>
      </p:sp>
      <p:sp>
        <p:nvSpPr>
          <p:cNvPr id="8" name="Token Card"/>
          <p:cNvSpPr/>
          <p:nvPr/>
        </p:nvSpPr>
        <p:spPr>
          <a:xfrm>
            <a:off x="5303520" y="1554480"/>
            <a:ext cx="3383280" cy="3108960"/>
          </a:xfrm>
          <a:prstGeom prst="roundRect">
            <a:avLst>
              <a:gd name="adj" fmla="val 2941"/>
            </a:avLst>
          </a:prstGeom>
          <a:solidFill>
            <a:schemeClr val="bg2"/>
          </a:solidFill>
          <a:ln w="12700">
            <a:solidFill>
              <a:schemeClr val="accent4"/>
            </a:solidFill>
            <a:prstDash val="solid"/>
          </a:ln>
        </p:spPr>
      </p:sp>
      <p:sp>
        <p:nvSpPr>
          <p:cNvPr id="9" name="Token Caption"/>
          <p:cNvSpPr txBox="1"/>
          <p:nvPr/>
        </p:nvSpPr>
        <p:spPr>
          <a:xfrm>
            <a:off x="5440680" y="1627632"/>
            <a:ext cx="3108960" cy="274320"/>
          </a:xfrm>
          <a:prstGeom prst="rect">
            <a:avLst/>
          </a:prstGeom>
          <a:noFill/>
          <a:ln/>
        </p:spPr>
        <p:txBody>
          <a:bodyPr wrap="square" lIns="0" tIns="0" rIns="0" bIns="0" rtlCol="0" anchor="ctr"/>
          <a:lstStyle/>
          <a:p>
            <a:pPr marL="0" indent="0">
              <a:buNone/>
            </a:pPr>
            <a:r>
              <a:rPr lang="en-US" sz="1100" b="1" dirty="0">
                <a:solidFill>
                  <a:schemeClr val="accent1"/>
                </a:solidFill>
              </a:rPr>
              <a:t>Example token categories (illustration only)</a:t>
            </a:r>
            <a:endParaRPr lang="en-US" sz="1100" dirty="0"/>
          </a:p>
        </p:txBody>
      </p:sp>
      <p:sp>
        <p:nvSpPr>
          <p:cNvPr id="10" name="Token Source"/>
          <p:cNvSpPr txBox="1"/>
          <p:nvPr/>
        </p:nvSpPr>
        <p:spPr>
          <a:xfrm>
            <a:off x="5440680" y="1938528"/>
            <a:ext cx="3108960" cy="365760"/>
          </a:xfrm>
          <a:prstGeom prst="rect">
            <a:avLst/>
          </a:prstGeom>
          <a:noFill/>
          <a:ln/>
        </p:spPr>
        <p:txBody>
          <a:bodyPr wrap="square" lIns="0" tIns="0" rIns="0" bIns="0" rtlCol="0" anchor="ctr"/>
          <a:lstStyle/>
          <a:p>
            <a:pPr marL="0" indent="0">
              <a:buNone/>
            </a:pPr>
            <a:r>
              <a:rPr lang="en-US" sz="1600" dirty="0">
                <a:solidFill>
                  <a:schemeClr val="tx2"/>
                </a:solidFill>
                <a:latin typeface="Courier New" pitchFamily="34" charset="0"/>
                <a:ea typeface="Courier New" pitchFamily="34" charset="-122"/>
                <a:cs typeface="Courier New" pitchFamily="34" charset="-120"/>
              </a:rPr>
              <a:t>int age = 10;</a:t>
            </a:r>
            <a:endParaRPr lang="en-US" sz="1600" dirty="0"/>
          </a:p>
        </p:txBody>
      </p:sp>
      <p:graphicFrame>
        <p:nvGraphicFramePr>
          <p:cNvPr id="11" name="Token Table"/>
          <p:cNvGraphicFramePr>
            <a:graphicFrameLocks noGrp="1"/>
          </p:cNvGraphicFramePr>
          <p:nvPr>
            <p:extLst>
              <p:ext uri="{D42A27DB-BD31-4B8C-83A1-F6EECF244321}">
                <p14:modId xmlns:p14="http://schemas.microsoft.com/office/powerpoint/2010/main" val="1579011935"/>
              </p:ext>
            </p:extLst>
          </p:nvPr>
        </p:nvGraphicFramePr>
        <p:xfrm>
          <a:off x="5440680" y="2423160"/>
          <a:ext cx="3108960" cy="2084832"/>
        </p:xfrm>
        <a:graphic>
          <a:graphicData uri="http://schemas.openxmlformats.org/drawingml/2006/table">
            <a:tbl>
              <a:tblPr/>
              <a:tblGrid>
                <a:gridCol w="10058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347472">
                <a:tc>
                  <a:txBody>
                    <a:bodyPr/>
                    <a:lstStyle/>
                    <a:p>
                      <a:pPr marL="0" indent="0">
                        <a:buNone/>
                      </a:pPr>
                      <a:r>
                        <a:rPr lang="en-US" sz="1200" b="1" dirty="0">
                          <a:solidFill>
                            <a:schemeClr val="bg1"/>
                          </a:solidFill>
                        </a:rPr>
                        <a:t>Lexeme</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marL="0" indent="0">
                        <a:buNone/>
                      </a:pPr>
                      <a:r>
                        <a:rPr lang="en-US" sz="1200" b="1" dirty="0">
                          <a:solidFill>
                            <a:schemeClr val="bg1"/>
                          </a:solidFill>
                        </a:rPr>
                        <a:t>Token category</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chemeClr val="tx1"/>
                          </a:solidFill>
                        </a:rPr>
                        <a:t>int</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Keyword</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47472">
                <a:tc>
                  <a:txBody>
                    <a:bodyPr/>
                    <a:lstStyle/>
                    <a:p>
                      <a:pPr marL="0" indent="0">
                        <a:buNone/>
                      </a:pPr>
                      <a:r>
                        <a:rPr lang="en-US" sz="1200" dirty="0">
                          <a:solidFill>
                            <a:schemeClr val="tx1"/>
                          </a:solidFill>
                        </a:rPr>
                        <a:t>age</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Identifier</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47472">
                <a:tc>
                  <a:txBody>
                    <a:bodyPr/>
                    <a:lstStyle/>
                    <a:p>
                      <a:pPr marL="0" indent="0">
                        <a:buNone/>
                      </a:pPr>
                      <a:r>
                        <a:rPr lang="en-US" sz="1200" dirty="0">
                          <a:solidFill>
                            <a:schemeClr val="tx1"/>
                          </a:solidFill>
                        </a:rPr>
                        <a:t>=</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Operator</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47472">
                <a:tc>
                  <a:txBody>
                    <a:bodyPr/>
                    <a:lstStyle/>
                    <a:p>
                      <a:pPr marL="0" indent="0">
                        <a:buNone/>
                      </a:pPr>
                      <a:r>
                        <a:rPr lang="en-US" sz="1200" dirty="0">
                          <a:solidFill>
                            <a:schemeClr val="tx1"/>
                          </a:solidFill>
                        </a:rPr>
                        <a:t>10</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Literal (number)</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47472">
                <a:tc>
                  <a:txBody>
                    <a:bodyPr/>
                    <a:lstStyle/>
                    <a:p>
                      <a:pPr marL="0" indent="0">
                        <a:buNone/>
                      </a:pPr>
                      <a:r>
                        <a:rPr lang="en-US" sz="1200" dirty="0">
                          <a:solidFill>
                            <a:schemeClr val="tx1"/>
                          </a:solidFill>
                        </a:rPr>
                        <a:t>;</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Symbol</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CFG and Grammar</a:t>
            </a:r>
            <a:endParaRPr lang="en-US" sz="3200" dirty="0"/>
          </a:p>
        </p:txBody>
      </p:sp>
      <p:sp>
        <p:nvSpPr>
          <p:cNvPr id="5" name="File Badge"/>
          <p:cNvSpPr/>
          <p:nvPr/>
        </p:nvSpPr>
        <p:spPr>
          <a:xfrm>
            <a:off x="7406640" y="960120"/>
            <a:ext cx="1280160" cy="365760"/>
          </a:xfrm>
          <a:prstGeom prst="roundRect">
            <a:avLst>
              <a:gd name="adj" fmla="val 25000"/>
            </a:avLst>
          </a:prstGeom>
          <a:solidFill>
            <a:schemeClr val="accent1"/>
          </a:solidFill>
          <a:ln w="12700">
            <a:solidFill>
              <a:schemeClr val="accent1"/>
            </a:solidFill>
            <a:prstDash val="solid"/>
          </a:ln>
        </p:spPr>
      </p:sp>
      <p:sp>
        <p:nvSpPr>
          <p:cNvPr id="6" name="File Name"/>
          <p:cNvSpPr txBox="1"/>
          <p:nvPr/>
        </p:nvSpPr>
        <p:spPr>
          <a:xfrm>
            <a:off x="7406640" y="960120"/>
            <a:ext cx="1280160" cy="365760"/>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grammar.py</a:t>
            </a:r>
            <a:endParaRPr lang="en-US" sz="1300" dirty="0"/>
          </a:p>
        </p:txBody>
      </p:sp>
      <p:sp>
        <p:nvSpPr>
          <p:cNvPr id="7" name="Bullets"/>
          <p:cNvSpPr txBox="1"/>
          <p:nvPr/>
        </p:nvSpPr>
        <p:spPr>
          <a:xfrm>
            <a:off x="457200" y="1554480"/>
            <a:ext cx="3749040" cy="3108960"/>
          </a:xfrm>
          <a:prstGeom prst="rect">
            <a:avLst/>
          </a:prstGeom>
          <a:noFill/>
          <a:ln/>
        </p:spPr>
        <p:txBody>
          <a:bodyPr wrap="square" lIns="0" tIns="0" rIns="0" bIns="0" rtlCol="0" anchor="t"/>
          <a:lstStyle/>
          <a:p>
            <a:pPr marL="190500" indent="-190500">
              <a:spcAft>
                <a:spcPts val="1000"/>
              </a:spcAft>
              <a:buSzPct val="100000"/>
              <a:buChar char="•"/>
            </a:pPr>
            <a:r>
              <a:rPr lang="en-US" sz="1400" dirty="0">
                <a:solidFill>
                  <a:schemeClr val="tx1"/>
                </a:solidFill>
              </a:rPr>
              <a:t>A Context-Free Grammar (CFG) is a set of rules that describes valid statements.</a:t>
            </a:r>
            <a:endParaRPr lang="en-US" sz="1400" dirty="0"/>
          </a:p>
          <a:p>
            <a:pPr marL="190500" indent="-190500">
              <a:spcAft>
                <a:spcPts val="1000"/>
              </a:spcAft>
              <a:buSzPct val="100000"/>
              <a:buChar char="•"/>
            </a:pPr>
            <a:r>
              <a:rPr lang="en-US" sz="1400" dirty="0">
                <a:solidFill>
                  <a:schemeClr val="tx1"/>
                </a:solidFill>
              </a:rPr>
              <a:t>Our rules define declarations, initialization and assignments.</a:t>
            </a:r>
            <a:endParaRPr lang="en-US" sz="1400" dirty="0"/>
          </a:p>
          <a:p>
            <a:pPr marL="190500" indent="-190500">
              <a:spcAft>
                <a:spcPts val="1000"/>
              </a:spcAft>
              <a:buSzPct val="100000"/>
              <a:buChar char="•"/>
            </a:pPr>
            <a:r>
              <a:rPr lang="en-US" sz="1400" dirty="0">
                <a:solidFill>
                  <a:schemeClr val="tx1"/>
                </a:solidFill>
              </a:rPr>
              <a:t>FIRST and FOLLOW sets show which tokens can start or follow a rule, guiding the parser.</a:t>
            </a:r>
            <a:endParaRPr lang="en-US" sz="1400" dirty="0"/>
          </a:p>
          <a:p>
            <a:pPr marL="190500" indent="-190500">
              <a:spcAft>
                <a:spcPts val="1000"/>
              </a:spcAft>
              <a:buSzPct val="100000"/>
              <a:buChar char="•"/>
            </a:pPr>
            <a:r>
              <a:rPr lang="en-US" sz="1400" dirty="0">
                <a:solidFill>
                  <a:schemeClr val="tx1"/>
                </a:solidFill>
              </a:rPr>
              <a:t>grammar.py holds the grammar rules and the FIRST/FOLLOW sets. </a:t>
            </a:r>
            <a:endParaRPr lang="en-US" sz="1400" dirty="0"/>
          </a:p>
        </p:txBody>
      </p:sp>
      <p:sp>
        <p:nvSpPr>
          <p:cNvPr id="8" name="Grammar Card"/>
          <p:cNvSpPr/>
          <p:nvPr/>
        </p:nvSpPr>
        <p:spPr>
          <a:xfrm>
            <a:off x="4389120" y="1554480"/>
            <a:ext cx="4297680" cy="3108960"/>
          </a:xfrm>
          <a:prstGeom prst="roundRect">
            <a:avLst>
              <a:gd name="adj" fmla="val 2941"/>
            </a:avLst>
          </a:prstGeom>
          <a:solidFill>
            <a:schemeClr val="bg2"/>
          </a:solidFill>
          <a:ln w="12700">
            <a:solidFill>
              <a:schemeClr val="accent4"/>
            </a:solidFill>
            <a:prstDash val="solid"/>
          </a:ln>
        </p:spPr>
      </p:sp>
      <p:sp>
        <p:nvSpPr>
          <p:cNvPr id="9" name="Grammar Caption"/>
          <p:cNvSpPr txBox="1"/>
          <p:nvPr/>
        </p:nvSpPr>
        <p:spPr>
          <a:xfrm>
            <a:off x="4572000" y="1627632"/>
            <a:ext cx="3931920" cy="274320"/>
          </a:xfrm>
          <a:prstGeom prst="rect">
            <a:avLst/>
          </a:prstGeom>
          <a:noFill/>
          <a:ln/>
        </p:spPr>
        <p:txBody>
          <a:bodyPr wrap="square" lIns="0" tIns="0" rIns="0" bIns="0" rtlCol="0" anchor="ctr"/>
          <a:lstStyle/>
          <a:p>
            <a:pPr marL="0" indent="0">
              <a:buNone/>
            </a:pPr>
            <a:r>
              <a:rPr lang="en-US" sz="1100" b="1" dirty="0">
                <a:solidFill>
                  <a:schemeClr val="accent1"/>
                </a:solidFill>
              </a:rPr>
              <a:t>Grammar rules</a:t>
            </a:r>
            <a:endParaRPr lang="en-US" sz="1100" dirty="0"/>
          </a:p>
        </p:txBody>
      </p:sp>
      <p:sp>
        <p:nvSpPr>
          <p:cNvPr id="10" name="Grammar Rules"/>
          <p:cNvSpPr txBox="1"/>
          <p:nvPr/>
        </p:nvSpPr>
        <p:spPr>
          <a:xfrm>
            <a:off x="4572000" y="1965960"/>
            <a:ext cx="4023360" cy="2560320"/>
          </a:xfrm>
          <a:prstGeom prst="rect">
            <a:avLst/>
          </a:prstGeom>
          <a:noFill/>
          <a:ln/>
        </p:spPr>
        <p:txBody>
          <a:bodyPr wrap="square" lIns="0" tIns="0" rIns="0" bIns="0" rtlCol="0" anchor="t"/>
          <a:lstStyle/>
          <a:p>
            <a:pPr marL="0" indent="0">
              <a:spcAft>
                <a:spcPts val="900"/>
              </a:spcAft>
              <a:buNone/>
            </a:pPr>
            <a:r>
              <a:rPr lang="en-US" sz="1200" dirty="0">
                <a:solidFill>
                  <a:schemeClr val="tx2"/>
                </a:solidFill>
                <a:latin typeface="Courier New" pitchFamily="34" charset="0"/>
                <a:ea typeface="Courier New" pitchFamily="34" charset="-122"/>
                <a:cs typeface="Courier New" pitchFamily="34" charset="-120"/>
              </a:rPr>
              <a:t>Statement → Declaration | Assignment</a:t>
            </a:r>
            <a:endParaRPr lang="en-US" sz="1200" dirty="0"/>
          </a:p>
          <a:p>
            <a:pPr marL="0" indent="0">
              <a:spcAft>
                <a:spcPts val="900"/>
              </a:spcAft>
              <a:buNone/>
            </a:pPr>
            <a:r>
              <a:rPr lang="en-US" sz="1200" dirty="0">
                <a:solidFill>
                  <a:schemeClr val="tx2"/>
                </a:solidFill>
                <a:latin typeface="Courier New" pitchFamily="34" charset="0"/>
                <a:ea typeface="Courier New" pitchFamily="34" charset="-122"/>
                <a:cs typeface="Courier New" pitchFamily="34" charset="-120"/>
              </a:rPr>
              <a:t>Declaration → Type ID ;</a:t>
            </a:r>
            <a:endParaRPr lang="en-US" sz="1200" dirty="0"/>
          </a:p>
          <a:p>
            <a:pPr marL="0" indent="0">
              <a:spcAft>
                <a:spcPts val="900"/>
              </a:spcAft>
              <a:buNone/>
            </a:pPr>
            <a:r>
              <a:rPr lang="en-US" sz="1200" dirty="0">
                <a:solidFill>
                  <a:schemeClr val="tx2"/>
                </a:solidFill>
                <a:latin typeface="Courier New" pitchFamily="34" charset="0"/>
                <a:ea typeface="Courier New" pitchFamily="34" charset="-122"/>
                <a:cs typeface="Courier New" pitchFamily="34" charset="-120"/>
              </a:rPr>
              <a:t>Declaration → Type ID = Value ;</a:t>
            </a:r>
            <a:endParaRPr lang="en-US" sz="1200" dirty="0"/>
          </a:p>
          <a:p>
            <a:pPr marL="0" indent="0">
              <a:spcAft>
                <a:spcPts val="900"/>
              </a:spcAft>
              <a:buNone/>
            </a:pPr>
            <a:r>
              <a:rPr lang="en-US" sz="1200" dirty="0">
                <a:solidFill>
                  <a:schemeClr val="tx2"/>
                </a:solidFill>
                <a:latin typeface="Courier New" pitchFamily="34" charset="0"/>
                <a:ea typeface="Courier New" pitchFamily="34" charset="-122"/>
                <a:cs typeface="Courier New" pitchFamily="34" charset="-120"/>
              </a:rPr>
              <a:t>Assignment → ID = Value ;</a:t>
            </a:r>
            <a:endParaRPr lang="en-US" sz="1200" dirty="0"/>
          </a:p>
          <a:p>
            <a:pPr marL="0" indent="0">
              <a:spcAft>
                <a:spcPts val="900"/>
              </a:spcAft>
              <a:buNone/>
            </a:pPr>
            <a:r>
              <a:rPr lang="en-US" sz="1200" dirty="0">
                <a:solidFill>
                  <a:schemeClr val="tx2"/>
                </a:solidFill>
                <a:latin typeface="Courier New" pitchFamily="34" charset="0"/>
                <a:ea typeface="Courier New" pitchFamily="34" charset="-122"/>
                <a:cs typeface="Courier New" pitchFamily="34" charset="-120"/>
              </a:rPr>
              <a:t>Type → int | float | double | char | bool</a:t>
            </a:r>
            <a:endParaRPr lang="en-US" sz="1200" dirty="0"/>
          </a:p>
          <a:p>
            <a:pPr marL="0" indent="0">
              <a:spcAft>
                <a:spcPts val="900"/>
              </a:spcAft>
              <a:buNone/>
            </a:pPr>
            <a:r>
              <a:rPr lang="en-US" sz="1200" dirty="0">
                <a:solidFill>
                  <a:schemeClr val="tx2"/>
                </a:solidFill>
                <a:latin typeface="Courier New" pitchFamily="34" charset="0"/>
                <a:ea typeface="Courier New" pitchFamily="34" charset="-122"/>
                <a:cs typeface="Courier New" pitchFamily="34" charset="-120"/>
              </a:rPr>
              <a:t>Value → ID | NUMBER |</a:t>
            </a:r>
            <a:endParaRPr lang="en-US" sz="1200" dirty="0"/>
          </a:p>
          <a:p>
            <a:pPr marL="0" indent="0">
              <a:spcAft>
                <a:spcPts val="900"/>
              </a:spcAft>
              <a:buNone/>
            </a:pPr>
            <a:r>
              <a:rPr lang="en-US" sz="1200" dirty="0">
                <a:solidFill>
                  <a:schemeClr val="tx2"/>
                </a:solidFill>
                <a:latin typeface="Courier New" pitchFamily="34" charset="0"/>
                <a:ea typeface="Courier New" pitchFamily="34" charset="-122"/>
                <a:cs typeface="Courier New" pitchFamily="34" charset="-120"/>
              </a:rPr>
              <a:t>        CHAR_LITERAL | BOOL_LITERAL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Syntax Analyzer (Parser)</a:t>
            </a:r>
            <a:endParaRPr lang="en-US" sz="3200" dirty="0"/>
          </a:p>
        </p:txBody>
      </p:sp>
      <p:sp>
        <p:nvSpPr>
          <p:cNvPr id="5" name="File Badge"/>
          <p:cNvSpPr/>
          <p:nvPr/>
        </p:nvSpPr>
        <p:spPr>
          <a:xfrm>
            <a:off x="7406640" y="960120"/>
            <a:ext cx="1280160" cy="365760"/>
          </a:xfrm>
          <a:prstGeom prst="roundRect">
            <a:avLst>
              <a:gd name="adj" fmla="val 25000"/>
            </a:avLst>
          </a:prstGeom>
          <a:solidFill>
            <a:schemeClr val="accent1"/>
          </a:solidFill>
          <a:ln w="12700">
            <a:solidFill>
              <a:schemeClr val="accent1"/>
            </a:solidFill>
            <a:prstDash val="solid"/>
          </a:ln>
        </p:spPr>
      </p:sp>
      <p:sp>
        <p:nvSpPr>
          <p:cNvPr id="6" name="File Name"/>
          <p:cNvSpPr txBox="1"/>
          <p:nvPr/>
        </p:nvSpPr>
        <p:spPr>
          <a:xfrm>
            <a:off x="7406640" y="960120"/>
            <a:ext cx="1280160" cy="365760"/>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parser.py</a:t>
            </a:r>
            <a:endParaRPr lang="en-US" sz="1300" dirty="0"/>
          </a:p>
        </p:txBody>
      </p:sp>
      <p:sp>
        <p:nvSpPr>
          <p:cNvPr id="7" name="Bullets"/>
          <p:cNvSpPr txBox="1"/>
          <p:nvPr/>
        </p:nvSpPr>
        <p:spPr>
          <a:xfrm>
            <a:off x="457200" y="1554480"/>
            <a:ext cx="4572000" cy="3108960"/>
          </a:xfrm>
          <a:prstGeom prst="rect">
            <a:avLst/>
          </a:prstGeom>
          <a:noFill/>
          <a:ln/>
        </p:spPr>
        <p:txBody>
          <a:bodyPr wrap="square" lIns="0" tIns="0" rIns="0" bIns="0" rtlCol="0" anchor="t"/>
          <a:lstStyle/>
          <a:p>
            <a:pPr marL="190500" indent="-190500">
              <a:spcAft>
                <a:spcPts val="1000"/>
              </a:spcAft>
              <a:buSzPct val="100000"/>
              <a:buChar char="•"/>
            </a:pPr>
            <a:r>
              <a:rPr lang="en-US" sz="1400" dirty="0">
                <a:solidFill>
                  <a:schemeClr val="tx1"/>
                </a:solidFill>
              </a:rPr>
              <a:t>Syntax analysis checks that the tokens follow the grammar rules.</a:t>
            </a:r>
            <a:endParaRPr lang="en-US" sz="1400" dirty="0"/>
          </a:p>
          <a:p>
            <a:pPr marL="190500" indent="-190500">
              <a:spcAft>
                <a:spcPts val="1000"/>
              </a:spcAft>
              <a:buSzPct val="100000"/>
              <a:buChar char="•"/>
            </a:pPr>
            <a:r>
              <a:rPr lang="en-US" sz="1400" dirty="0">
                <a:solidFill>
                  <a:schemeClr val="tx1"/>
                </a:solidFill>
              </a:rPr>
              <a:t>The parser takes tokens from the lexer and matches them with the rules in grammar.py.</a:t>
            </a:r>
            <a:endParaRPr lang="en-US" sz="1400" dirty="0"/>
          </a:p>
          <a:p>
            <a:pPr marL="190500" indent="-190500">
              <a:spcAft>
                <a:spcPts val="1000"/>
              </a:spcAft>
              <a:buSzPct val="100000"/>
              <a:buChar char="•"/>
            </a:pPr>
            <a:r>
              <a:rPr lang="en-US" sz="1400" dirty="0">
                <a:solidFill>
                  <a:schemeClr val="tx1"/>
                </a:solidFill>
              </a:rPr>
              <a:t>A statement that matches no rule is reported as an invalid declaration or assignment.</a:t>
            </a:r>
            <a:endParaRPr lang="en-US" sz="1400" dirty="0"/>
          </a:p>
          <a:p>
            <a:pPr marL="190500" indent="-190500">
              <a:spcAft>
                <a:spcPts val="1000"/>
              </a:spcAft>
              <a:buSzPct val="100000"/>
              <a:buChar char="•"/>
            </a:pPr>
            <a:r>
              <a:rPr lang="en-US" sz="1400" dirty="0">
                <a:solidFill>
                  <a:schemeClr val="tx1"/>
                </a:solidFill>
              </a:rPr>
              <a:t>parser.py sits between the lexer and the later checks.</a:t>
            </a:r>
            <a:endParaRPr lang="en-US" sz="1400" dirty="0"/>
          </a:p>
        </p:txBody>
      </p:sp>
      <p:sp>
        <p:nvSpPr>
          <p:cNvPr id="8" name="Valid Card"/>
          <p:cNvSpPr/>
          <p:nvPr/>
        </p:nvSpPr>
        <p:spPr>
          <a:xfrm>
            <a:off x="5303520" y="1554480"/>
            <a:ext cx="3383280" cy="1417320"/>
          </a:xfrm>
          <a:prstGeom prst="roundRect">
            <a:avLst>
              <a:gd name="adj" fmla="val 6452"/>
            </a:avLst>
          </a:prstGeom>
          <a:solidFill>
            <a:schemeClr val="bg2"/>
          </a:solidFill>
          <a:ln w="12700">
            <a:solidFill>
              <a:schemeClr val="accent4"/>
            </a:solidFill>
            <a:prstDash val="solid"/>
          </a:ln>
        </p:spPr>
      </p:sp>
      <p:sp>
        <p:nvSpPr>
          <p:cNvPr id="9" name="Valid Text"/>
          <p:cNvSpPr txBox="1"/>
          <p:nvPr/>
        </p:nvSpPr>
        <p:spPr>
          <a:xfrm>
            <a:off x="5440680" y="1627632"/>
            <a:ext cx="3108960" cy="1280160"/>
          </a:xfrm>
          <a:prstGeom prst="rect">
            <a:avLst/>
          </a:prstGeom>
          <a:noFill/>
          <a:ln/>
        </p:spPr>
        <p:txBody>
          <a:bodyPr wrap="square" lIns="0" tIns="0" rIns="0" bIns="0" rtlCol="0" anchor="t"/>
          <a:lstStyle/>
          <a:p>
            <a:pPr marL="0" indent="0">
              <a:spcAft>
                <a:spcPts val="500"/>
              </a:spcAft>
              <a:buNone/>
            </a:pPr>
            <a:r>
              <a:rPr lang="en-US" sz="1200" b="1" dirty="0">
                <a:solidFill>
                  <a:schemeClr val="accent1"/>
                </a:solidFill>
              </a:rPr>
              <a:t>Valid example</a:t>
            </a:r>
            <a:endParaRPr lang="en-US" sz="1200" dirty="0"/>
          </a:p>
          <a:p>
            <a:pPr marL="0" indent="0">
              <a:spcAft>
                <a:spcPts val="500"/>
              </a:spcAft>
              <a:buNone/>
            </a:pPr>
            <a:r>
              <a:rPr lang="en-US" sz="1600" dirty="0">
                <a:solidFill>
                  <a:schemeClr val="tx2"/>
                </a:solidFill>
                <a:latin typeface="Courier New" pitchFamily="34" charset="0"/>
                <a:ea typeface="Courier New" pitchFamily="34" charset="-122"/>
                <a:cs typeface="Courier New" pitchFamily="34" charset="-120"/>
              </a:rPr>
              <a:t>int age = 10;</a:t>
            </a:r>
            <a:endParaRPr lang="en-US" sz="1200" dirty="0"/>
          </a:p>
          <a:p>
            <a:pPr marL="0" indent="0">
              <a:spcAft>
                <a:spcPts val="500"/>
              </a:spcAft>
              <a:buNone/>
            </a:pPr>
            <a:r>
              <a:rPr lang="en-US" sz="1200" dirty="0">
                <a:solidFill>
                  <a:schemeClr val="tx1"/>
                </a:solidFill>
              </a:rPr>
              <a:t>Matches Declaration → Type ID = Value ;</a:t>
            </a:r>
            <a:endParaRPr lang="en-US" sz="1200" dirty="0"/>
          </a:p>
        </p:txBody>
      </p:sp>
      <p:sp>
        <p:nvSpPr>
          <p:cNvPr id="10" name="Invalid Card"/>
          <p:cNvSpPr/>
          <p:nvPr/>
        </p:nvSpPr>
        <p:spPr>
          <a:xfrm>
            <a:off x="5303520" y="3154680"/>
            <a:ext cx="3383280" cy="1508760"/>
          </a:xfrm>
          <a:prstGeom prst="roundRect">
            <a:avLst>
              <a:gd name="adj" fmla="val 6061"/>
            </a:avLst>
          </a:prstGeom>
          <a:solidFill>
            <a:schemeClr val="bg2"/>
          </a:solidFill>
          <a:ln w="12700">
            <a:solidFill>
              <a:schemeClr val="accent4"/>
            </a:solidFill>
            <a:prstDash val="solid"/>
          </a:ln>
        </p:spPr>
      </p:sp>
      <p:sp>
        <p:nvSpPr>
          <p:cNvPr id="11" name="Invalid Text"/>
          <p:cNvSpPr txBox="1"/>
          <p:nvPr/>
        </p:nvSpPr>
        <p:spPr>
          <a:xfrm>
            <a:off x="5440680" y="3227832"/>
            <a:ext cx="3108960" cy="1371600"/>
          </a:xfrm>
          <a:prstGeom prst="rect">
            <a:avLst/>
          </a:prstGeom>
          <a:noFill/>
          <a:ln/>
        </p:spPr>
        <p:txBody>
          <a:bodyPr wrap="square" lIns="0" tIns="0" rIns="0" bIns="0" rtlCol="0" anchor="t"/>
          <a:lstStyle/>
          <a:p>
            <a:pPr marL="0" indent="0">
              <a:spcAft>
                <a:spcPts val="500"/>
              </a:spcAft>
              <a:buNone/>
            </a:pPr>
            <a:r>
              <a:rPr lang="en-US" sz="1200" b="1" dirty="0">
                <a:solidFill>
                  <a:schemeClr val="accent1"/>
                </a:solidFill>
              </a:rPr>
              <a:t>Invalid example</a:t>
            </a:r>
            <a:endParaRPr lang="en-US" sz="1200" dirty="0"/>
          </a:p>
          <a:p>
            <a:pPr marL="0" indent="0">
              <a:spcAft>
                <a:spcPts val="500"/>
              </a:spcAft>
              <a:buNone/>
            </a:pPr>
            <a:r>
              <a:rPr lang="en-US" sz="1600" dirty="0">
                <a:solidFill>
                  <a:schemeClr val="tx2"/>
                </a:solidFill>
                <a:latin typeface="Courier New" pitchFamily="34" charset="0"/>
                <a:ea typeface="Courier New" pitchFamily="34" charset="-122"/>
                <a:cs typeface="Courier New" pitchFamily="34" charset="-120"/>
              </a:rPr>
              <a:t>int = 10;</a:t>
            </a:r>
            <a:endParaRPr lang="en-US" sz="1200" dirty="0"/>
          </a:p>
          <a:p>
            <a:pPr marL="0" indent="0">
              <a:spcAft>
                <a:spcPts val="500"/>
              </a:spcAft>
              <a:buNone/>
            </a:pPr>
            <a:r>
              <a:rPr lang="en-US" sz="1200" dirty="0">
                <a:solidFill>
                  <a:schemeClr val="tx1"/>
                </a:solidFill>
              </a:rPr>
              <a:t>Expected to be rejected: no rule matches because the variable name is missing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Symbol Table</a:t>
            </a:r>
            <a:endParaRPr lang="en-US" sz="3200" dirty="0"/>
          </a:p>
        </p:txBody>
      </p:sp>
      <p:sp>
        <p:nvSpPr>
          <p:cNvPr id="5" name="File Badge"/>
          <p:cNvSpPr/>
          <p:nvPr/>
        </p:nvSpPr>
        <p:spPr>
          <a:xfrm>
            <a:off x="7040880" y="960120"/>
            <a:ext cx="1645920" cy="365760"/>
          </a:xfrm>
          <a:prstGeom prst="roundRect">
            <a:avLst>
              <a:gd name="adj" fmla="val 25000"/>
            </a:avLst>
          </a:prstGeom>
          <a:solidFill>
            <a:schemeClr val="accent1"/>
          </a:solidFill>
          <a:ln w="12700">
            <a:solidFill>
              <a:schemeClr val="accent1"/>
            </a:solidFill>
            <a:prstDash val="solid"/>
          </a:ln>
        </p:spPr>
      </p:sp>
      <p:sp>
        <p:nvSpPr>
          <p:cNvPr id="6" name="File Name"/>
          <p:cNvSpPr txBox="1"/>
          <p:nvPr/>
        </p:nvSpPr>
        <p:spPr>
          <a:xfrm>
            <a:off x="7040880" y="960120"/>
            <a:ext cx="1645920" cy="365760"/>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symbol_table.py</a:t>
            </a:r>
            <a:endParaRPr lang="en-US" sz="1300" dirty="0"/>
          </a:p>
        </p:txBody>
      </p:sp>
      <p:sp>
        <p:nvSpPr>
          <p:cNvPr id="7" name="Bullets"/>
          <p:cNvSpPr txBox="1"/>
          <p:nvPr/>
        </p:nvSpPr>
        <p:spPr>
          <a:xfrm>
            <a:off x="457200" y="1554480"/>
            <a:ext cx="4572000" cy="3108960"/>
          </a:xfrm>
          <a:prstGeom prst="rect">
            <a:avLst/>
          </a:prstGeom>
          <a:noFill/>
          <a:ln/>
        </p:spPr>
        <p:txBody>
          <a:bodyPr wrap="square" lIns="0" tIns="0" rIns="0" bIns="0" rtlCol="0" anchor="t"/>
          <a:lstStyle/>
          <a:p>
            <a:pPr marL="190500" indent="-190500">
              <a:spcAft>
                <a:spcPts val="1000"/>
              </a:spcAft>
              <a:buSzPct val="100000"/>
              <a:buChar char="•"/>
            </a:pPr>
            <a:r>
              <a:rPr lang="en-US" sz="1400" dirty="0">
                <a:solidFill>
                  <a:schemeClr val="tx1"/>
                </a:solidFill>
              </a:rPr>
              <a:t>A symbol table stores information about the names declared in a program.</a:t>
            </a:r>
            <a:endParaRPr lang="en-US" sz="1400" dirty="0"/>
          </a:p>
          <a:p>
            <a:pPr marL="190500" indent="-190500">
              <a:spcAft>
                <a:spcPts val="1000"/>
              </a:spcAft>
              <a:buSzPct val="100000"/>
              <a:buChar char="•"/>
            </a:pPr>
            <a:r>
              <a:rPr lang="en-US" sz="1400" dirty="0">
                <a:solidFill>
                  <a:schemeClr val="tx1"/>
                </a:solidFill>
              </a:rPr>
              <a:t>Each declared variable is stored with details such as its data type.</a:t>
            </a:r>
            <a:endParaRPr lang="en-US" sz="1400" dirty="0"/>
          </a:p>
          <a:p>
            <a:pPr marL="190500" indent="-190500">
              <a:spcAft>
                <a:spcPts val="1000"/>
              </a:spcAft>
              <a:buSzPct val="100000"/>
              <a:buChar char="•"/>
            </a:pPr>
            <a:r>
              <a:rPr lang="en-US" sz="1400" dirty="0">
                <a:solidFill>
                  <a:schemeClr val="tx1"/>
                </a:solidFill>
              </a:rPr>
              <a:t>Before a variable is added, the table can be checked to see if the name already exists.</a:t>
            </a:r>
            <a:endParaRPr lang="en-US" sz="1400" dirty="0"/>
          </a:p>
          <a:p>
            <a:pPr marL="190500" indent="-190500">
              <a:spcAft>
                <a:spcPts val="1000"/>
              </a:spcAft>
              <a:buSzPct val="100000"/>
              <a:buChar char="•"/>
            </a:pPr>
            <a:r>
              <a:rPr lang="en-US" sz="1400" dirty="0">
                <a:solidFill>
                  <a:schemeClr val="tx1"/>
                </a:solidFill>
              </a:rPr>
              <a:t>symbol_table.py is used by the semantic analyzer to look up and store variables.</a:t>
            </a:r>
            <a:endParaRPr lang="en-US" sz="1400" dirty="0"/>
          </a:p>
        </p:txBody>
      </p:sp>
      <p:sp>
        <p:nvSpPr>
          <p:cNvPr id="8" name="Symbol Card"/>
          <p:cNvSpPr/>
          <p:nvPr/>
        </p:nvSpPr>
        <p:spPr>
          <a:xfrm>
            <a:off x="5303520" y="1554480"/>
            <a:ext cx="3383280" cy="2743200"/>
          </a:xfrm>
          <a:prstGeom prst="roundRect">
            <a:avLst>
              <a:gd name="adj" fmla="val 3333"/>
            </a:avLst>
          </a:prstGeom>
          <a:solidFill>
            <a:schemeClr val="bg2"/>
          </a:solidFill>
          <a:ln w="12700">
            <a:solidFill>
              <a:schemeClr val="accent4"/>
            </a:solidFill>
            <a:prstDash val="solid"/>
          </a:ln>
        </p:spPr>
      </p:sp>
      <p:sp>
        <p:nvSpPr>
          <p:cNvPr id="9" name="Symbol Caption"/>
          <p:cNvSpPr txBox="1"/>
          <p:nvPr/>
        </p:nvSpPr>
        <p:spPr>
          <a:xfrm>
            <a:off x="5440680" y="1627632"/>
            <a:ext cx="3108960" cy="274320"/>
          </a:xfrm>
          <a:prstGeom prst="rect">
            <a:avLst/>
          </a:prstGeom>
          <a:noFill/>
          <a:ln/>
        </p:spPr>
        <p:txBody>
          <a:bodyPr wrap="square" lIns="0" tIns="0" rIns="0" bIns="0" rtlCol="0" anchor="ctr"/>
          <a:lstStyle/>
          <a:p>
            <a:pPr marL="0" indent="0">
              <a:buNone/>
            </a:pPr>
            <a:r>
              <a:rPr lang="en-US" sz="1100" b="1" dirty="0">
                <a:solidFill>
                  <a:schemeClr val="accent1"/>
                </a:solidFill>
              </a:rPr>
              <a:t>Example only – not program output</a:t>
            </a:r>
            <a:endParaRPr lang="en-US" sz="1100" dirty="0"/>
          </a:p>
        </p:txBody>
      </p:sp>
      <p:graphicFrame>
        <p:nvGraphicFramePr>
          <p:cNvPr id="10" name="Symbol Table"/>
          <p:cNvGraphicFramePr>
            <a:graphicFrameLocks noGrp="1"/>
          </p:cNvGraphicFramePr>
          <p:nvPr>
            <p:extLst>
              <p:ext uri="{D42A27DB-BD31-4B8C-83A1-F6EECF244321}">
                <p14:modId xmlns:p14="http://schemas.microsoft.com/office/powerpoint/2010/main" val="1579011935"/>
              </p:ext>
            </p:extLst>
          </p:nvPr>
        </p:nvGraphicFramePr>
        <p:xfrm>
          <a:off x="5440680" y="2011680"/>
          <a:ext cx="3108960" cy="1645920"/>
        </p:xfrm>
        <a:graphic>
          <a:graphicData uri="http://schemas.openxmlformats.org/drawingml/2006/table">
            <a:tbl>
              <a:tblPr/>
              <a:tblGrid>
                <a:gridCol w="1554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411480">
                <a:tc>
                  <a:txBody>
                    <a:bodyPr/>
                    <a:lstStyle/>
                    <a:p>
                      <a:pPr marL="0" indent="0">
                        <a:buNone/>
                      </a:pPr>
                      <a:r>
                        <a:rPr lang="en-US" sz="1200" b="1" dirty="0">
                          <a:solidFill>
                            <a:schemeClr val="bg1"/>
                          </a:solidFill>
                        </a:rPr>
                        <a:t>Variable Name</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marL="0" indent="0">
                        <a:buNone/>
                      </a:pPr>
                      <a:r>
                        <a:rPr lang="en-US" sz="1200" b="1" dirty="0">
                          <a:solidFill>
                            <a:schemeClr val="bg1"/>
                          </a:solidFill>
                        </a:rPr>
                        <a:t>Data Type</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extLst>
                  <a:ext uri="{0D108BD9-81ED-4DB2-BD59-A6C34878D82A}">
                    <a16:rowId xmlns:a16="http://schemas.microsoft.com/office/drawing/2014/main" val="10000"/>
                  </a:ext>
                </a:extLst>
              </a:tr>
              <a:tr h="411480">
                <a:tc>
                  <a:txBody>
                    <a:bodyPr/>
                    <a:lstStyle/>
                    <a:p>
                      <a:pPr marL="0" indent="0">
                        <a:buNone/>
                      </a:pPr>
                      <a:r>
                        <a:rPr lang="en-US" sz="1200" dirty="0">
                          <a:solidFill>
                            <a:schemeClr val="tx1"/>
                          </a:solidFill>
                        </a:rPr>
                        <a:t>age</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int</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1480">
                <a:tc>
                  <a:txBody>
                    <a:bodyPr/>
                    <a:lstStyle/>
                    <a:p>
                      <a:pPr marL="0" indent="0">
                        <a:buNone/>
                      </a:pPr>
                      <a:r>
                        <a:rPr lang="en-US" sz="1200" dirty="0">
                          <a:solidFill>
                            <a:schemeClr val="tx1"/>
                          </a:solidFill>
                        </a:rPr>
                        <a:t>price</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float</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11480">
                <a:tc>
                  <a:txBody>
                    <a:bodyPr/>
                    <a:lstStyle/>
                    <a:p>
                      <a:pPr marL="0" indent="0">
                        <a:buNone/>
                      </a:pPr>
                      <a:r>
                        <a:rPr lang="en-US" sz="1200" dirty="0">
                          <a:solidFill>
                            <a:schemeClr val="tx1"/>
                          </a:solidFill>
                        </a:rPr>
                        <a:t>grade</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char</a:t>
                      </a:r>
                      <a:endParaRPr lang="en-US" sz="1200" dirty="0"/>
                    </a:p>
                  </a:txBody>
                  <a:tcPr marL="73152" marR="73152" marT="0" marB="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11" name="Symbol Note"/>
          <p:cNvSpPr txBox="1"/>
          <p:nvPr/>
        </p:nvSpPr>
        <p:spPr>
          <a:xfrm>
            <a:off x="5440680" y="3794760"/>
            <a:ext cx="3108960" cy="411480"/>
          </a:xfrm>
          <a:prstGeom prst="rect">
            <a:avLst/>
          </a:prstGeom>
          <a:noFill/>
          <a:ln/>
        </p:spPr>
        <p:txBody>
          <a:bodyPr wrap="square" lIns="0" tIns="0" rIns="0" bIns="0" rtlCol="0" anchor="t"/>
          <a:lstStyle/>
          <a:p>
            <a:pPr marL="0" indent="0">
              <a:buNone/>
            </a:pPr>
            <a:r>
              <a:rPr lang="en-US" sz="1200" dirty="0">
                <a:solidFill>
                  <a:schemeClr val="tx1"/>
                </a:solidFill>
              </a:rPr>
              <a:t>The table grows as new variables are declared.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Semantic Analyzer</a:t>
            </a:r>
            <a:endParaRPr lang="en-US" sz="3200" dirty="0"/>
          </a:p>
        </p:txBody>
      </p:sp>
      <p:sp>
        <p:nvSpPr>
          <p:cNvPr id="5" name="File Badge"/>
          <p:cNvSpPr/>
          <p:nvPr/>
        </p:nvSpPr>
        <p:spPr>
          <a:xfrm>
            <a:off x="6492240" y="960120"/>
            <a:ext cx="2194560" cy="365760"/>
          </a:xfrm>
          <a:prstGeom prst="roundRect">
            <a:avLst>
              <a:gd name="adj" fmla="val 25000"/>
            </a:avLst>
          </a:prstGeom>
          <a:solidFill>
            <a:schemeClr val="accent1"/>
          </a:solidFill>
          <a:ln w="12700">
            <a:solidFill>
              <a:schemeClr val="accent1"/>
            </a:solidFill>
            <a:prstDash val="solid"/>
          </a:ln>
        </p:spPr>
      </p:sp>
      <p:sp>
        <p:nvSpPr>
          <p:cNvPr id="6" name="File Name"/>
          <p:cNvSpPr txBox="1"/>
          <p:nvPr/>
        </p:nvSpPr>
        <p:spPr>
          <a:xfrm>
            <a:off x="6492240" y="960120"/>
            <a:ext cx="2194560" cy="365760"/>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semantic_analyzer.py</a:t>
            </a:r>
            <a:endParaRPr lang="en-US" sz="1300" dirty="0"/>
          </a:p>
        </p:txBody>
      </p:sp>
      <p:sp>
        <p:nvSpPr>
          <p:cNvPr id="7" name="Bullets"/>
          <p:cNvSpPr txBox="1"/>
          <p:nvPr/>
        </p:nvSpPr>
        <p:spPr>
          <a:xfrm>
            <a:off x="457200" y="1554480"/>
            <a:ext cx="4572000" cy="3108960"/>
          </a:xfrm>
          <a:prstGeom prst="rect">
            <a:avLst/>
          </a:prstGeom>
          <a:noFill/>
          <a:ln/>
        </p:spPr>
        <p:txBody>
          <a:bodyPr wrap="square" lIns="0" tIns="0" rIns="0" bIns="0" rtlCol="0" anchor="t"/>
          <a:lstStyle/>
          <a:p>
            <a:pPr marL="190500" indent="-190500">
              <a:spcAft>
                <a:spcPts val="1000"/>
              </a:spcAft>
              <a:buSzPct val="100000"/>
              <a:buChar char="•"/>
            </a:pPr>
            <a:r>
              <a:rPr lang="en-US" sz="1400" dirty="0">
                <a:solidFill>
                  <a:schemeClr val="tx1"/>
                </a:solidFill>
              </a:rPr>
              <a:t>Semantic analysis checks the meaning of the program, beyond its grammar.</a:t>
            </a:r>
            <a:endParaRPr lang="en-US" sz="1400" dirty="0"/>
          </a:p>
          <a:p>
            <a:pPr marL="190500" indent="-190500">
              <a:spcAft>
                <a:spcPts val="1000"/>
              </a:spcAft>
              <a:buSzPct val="100000"/>
              <a:buChar char="•"/>
            </a:pPr>
            <a:r>
              <a:rPr lang="en-US" sz="1400" dirty="0">
                <a:solidFill>
                  <a:schemeClr val="tx1"/>
                </a:solidFill>
              </a:rPr>
              <a:t>For each declaration, it asks the symbol table if the name already exists.</a:t>
            </a:r>
            <a:endParaRPr lang="en-US" sz="1400" dirty="0"/>
          </a:p>
          <a:p>
            <a:pPr marL="190500" indent="-190500">
              <a:spcAft>
                <a:spcPts val="1000"/>
              </a:spcAft>
              <a:buSzPct val="100000"/>
              <a:buChar char="•"/>
            </a:pPr>
            <a:r>
              <a:rPr lang="en-US" sz="1400" dirty="0">
                <a:solidFill>
                  <a:schemeClr val="tx1"/>
                </a:solidFill>
              </a:rPr>
              <a:t>A repeated name is reported as a duplicate declaration.</a:t>
            </a:r>
            <a:endParaRPr lang="en-US" sz="1400" dirty="0"/>
          </a:p>
          <a:p>
            <a:pPr marL="190500" indent="-190500">
              <a:spcAft>
                <a:spcPts val="1000"/>
              </a:spcAft>
              <a:buSzPct val="100000"/>
              <a:buChar char="•"/>
            </a:pPr>
            <a:r>
              <a:rPr lang="en-US" sz="1400" dirty="0">
                <a:solidFill>
                  <a:schemeClr val="tx1"/>
                </a:solidFill>
              </a:rPr>
              <a:t>semantic_analyzer.py adds these checks to the compilation feedback.</a:t>
            </a:r>
            <a:endParaRPr lang="en-US" sz="1400" dirty="0"/>
          </a:p>
        </p:txBody>
      </p:sp>
      <p:sp>
        <p:nvSpPr>
          <p:cNvPr id="8" name="Flow Box 1"/>
          <p:cNvSpPr/>
          <p:nvPr/>
        </p:nvSpPr>
        <p:spPr>
          <a:xfrm>
            <a:off x="5394960" y="1600200"/>
            <a:ext cx="3291840" cy="731520"/>
          </a:xfrm>
          <a:prstGeom prst="roundRect">
            <a:avLst>
              <a:gd name="adj" fmla="val 12500"/>
            </a:avLst>
          </a:prstGeom>
          <a:solidFill>
            <a:schemeClr val="bg2"/>
          </a:solidFill>
          <a:ln w="12700">
            <a:solidFill>
              <a:schemeClr val="accent4"/>
            </a:solidFill>
            <a:prstDash val="solid"/>
          </a:ln>
        </p:spPr>
      </p:sp>
      <p:sp>
        <p:nvSpPr>
          <p:cNvPr id="9" name="Flow Text 1"/>
          <p:cNvSpPr txBox="1"/>
          <p:nvPr/>
        </p:nvSpPr>
        <p:spPr>
          <a:xfrm>
            <a:off x="5532120" y="1600200"/>
            <a:ext cx="3017520" cy="731520"/>
          </a:xfrm>
          <a:prstGeom prst="rect">
            <a:avLst/>
          </a:prstGeom>
          <a:noFill/>
          <a:ln/>
        </p:spPr>
        <p:txBody>
          <a:bodyPr wrap="square" lIns="0" tIns="0" rIns="0" bIns="0" rtlCol="0" anchor="ctr"/>
          <a:lstStyle/>
          <a:p>
            <a:pPr marL="0" indent="0" algn="ctr">
              <a:buNone/>
            </a:pPr>
            <a:r>
              <a:rPr lang="en-US" sz="1400" b="1" dirty="0">
                <a:solidFill>
                  <a:schemeClr val="tx2"/>
                </a:solidFill>
              </a:rPr>
              <a:t>New declaration</a:t>
            </a:r>
            <a:endParaRPr lang="en-US" sz="1400" dirty="0"/>
          </a:p>
        </p:txBody>
      </p:sp>
      <p:sp>
        <p:nvSpPr>
          <p:cNvPr id="10" name="Flow Arrow 1"/>
          <p:cNvSpPr/>
          <p:nvPr/>
        </p:nvSpPr>
        <p:spPr>
          <a:xfrm>
            <a:off x="6903720" y="2350008"/>
            <a:ext cx="274320" cy="237744"/>
          </a:xfrm>
          <a:prstGeom prst="downArrow">
            <a:avLst/>
          </a:prstGeom>
          <a:solidFill>
            <a:schemeClr val="accent1"/>
          </a:solidFill>
          <a:ln w="12700">
            <a:solidFill>
              <a:schemeClr val="accent1"/>
            </a:solidFill>
            <a:prstDash val="solid"/>
          </a:ln>
        </p:spPr>
      </p:sp>
      <p:sp>
        <p:nvSpPr>
          <p:cNvPr id="11" name="Flow Box 2"/>
          <p:cNvSpPr/>
          <p:nvPr/>
        </p:nvSpPr>
        <p:spPr>
          <a:xfrm>
            <a:off x="5394960" y="2606040"/>
            <a:ext cx="3291840" cy="731520"/>
          </a:xfrm>
          <a:prstGeom prst="roundRect">
            <a:avLst>
              <a:gd name="adj" fmla="val 12500"/>
            </a:avLst>
          </a:prstGeom>
          <a:solidFill>
            <a:schemeClr val="bg2"/>
          </a:solidFill>
          <a:ln w="12700">
            <a:solidFill>
              <a:schemeClr val="accent4"/>
            </a:solidFill>
            <a:prstDash val="solid"/>
          </a:ln>
        </p:spPr>
      </p:sp>
      <p:sp>
        <p:nvSpPr>
          <p:cNvPr id="12" name="Flow Text 2"/>
          <p:cNvSpPr txBox="1"/>
          <p:nvPr/>
        </p:nvSpPr>
        <p:spPr>
          <a:xfrm>
            <a:off x="5532120" y="2606040"/>
            <a:ext cx="3017520" cy="731520"/>
          </a:xfrm>
          <a:prstGeom prst="rect">
            <a:avLst/>
          </a:prstGeom>
          <a:noFill/>
          <a:ln/>
        </p:spPr>
        <p:txBody>
          <a:bodyPr wrap="square" lIns="0" tIns="0" rIns="0" bIns="0" rtlCol="0" anchor="ctr"/>
          <a:lstStyle/>
          <a:p>
            <a:pPr marL="0" indent="0" algn="ctr">
              <a:buNone/>
            </a:pPr>
            <a:r>
              <a:rPr lang="en-US" sz="1400" b="1" dirty="0">
                <a:solidFill>
                  <a:schemeClr val="tx2"/>
                </a:solidFill>
              </a:rPr>
              <a:t>Name already in</a:t>
            </a:r>
            <a:endParaRPr lang="en-US" sz="1400" dirty="0"/>
          </a:p>
          <a:p>
            <a:pPr marL="0" indent="0" algn="ctr">
              <a:buNone/>
            </a:pPr>
            <a:r>
              <a:rPr lang="en-US" sz="1400" b="1" dirty="0">
                <a:solidFill>
                  <a:schemeClr val="tx2"/>
                </a:solidFill>
              </a:rPr>
              <a:t>symbol table?</a:t>
            </a:r>
            <a:endParaRPr lang="en-US" sz="1400" dirty="0"/>
          </a:p>
        </p:txBody>
      </p:sp>
      <p:sp>
        <p:nvSpPr>
          <p:cNvPr id="13" name="Flow Arrow 2"/>
          <p:cNvSpPr/>
          <p:nvPr/>
        </p:nvSpPr>
        <p:spPr>
          <a:xfrm>
            <a:off x="6903720" y="3355848"/>
            <a:ext cx="274320" cy="237744"/>
          </a:xfrm>
          <a:prstGeom prst="downArrow">
            <a:avLst/>
          </a:prstGeom>
          <a:solidFill>
            <a:schemeClr val="accent1"/>
          </a:solidFill>
          <a:ln w="12700">
            <a:solidFill>
              <a:schemeClr val="accent1"/>
            </a:solidFill>
            <a:prstDash val="solid"/>
          </a:ln>
        </p:spPr>
      </p:sp>
      <p:sp>
        <p:nvSpPr>
          <p:cNvPr id="14" name="Flow Box 3"/>
          <p:cNvSpPr/>
          <p:nvPr/>
        </p:nvSpPr>
        <p:spPr>
          <a:xfrm>
            <a:off x="5394960" y="3611880"/>
            <a:ext cx="3291840" cy="731520"/>
          </a:xfrm>
          <a:prstGeom prst="roundRect">
            <a:avLst>
              <a:gd name="adj" fmla="val 12500"/>
            </a:avLst>
          </a:prstGeom>
          <a:solidFill>
            <a:schemeClr val="bg2"/>
          </a:solidFill>
          <a:ln w="12700">
            <a:solidFill>
              <a:schemeClr val="accent4"/>
            </a:solidFill>
            <a:prstDash val="solid"/>
          </a:ln>
        </p:spPr>
      </p:sp>
      <p:sp>
        <p:nvSpPr>
          <p:cNvPr id="15" name="Flow Text 3"/>
          <p:cNvSpPr txBox="1"/>
          <p:nvPr/>
        </p:nvSpPr>
        <p:spPr>
          <a:xfrm>
            <a:off x="5532120" y="3611880"/>
            <a:ext cx="3017520" cy="731520"/>
          </a:xfrm>
          <a:prstGeom prst="rect">
            <a:avLst/>
          </a:prstGeom>
          <a:noFill/>
          <a:ln/>
        </p:spPr>
        <p:txBody>
          <a:bodyPr wrap="square" lIns="0" tIns="0" rIns="0" bIns="0" rtlCol="0" anchor="ctr"/>
          <a:lstStyle/>
          <a:p>
            <a:pPr marL="0" indent="0" algn="ctr">
              <a:buNone/>
            </a:pPr>
            <a:r>
              <a:rPr lang="en-US" sz="1400" b="1" dirty="0">
                <a:solidFill>
                  <a:schemeClr val="tx2"/>
                </a:solidFill>
              </a:rPr>
              <a:t>Yes: duplicate error</a:t>
            </a:r>
            <a:endParaRPr lang="en-US" sz="1400" dirty="0"/>
          </a:p>
          <a:p>
            <a:pPr marL="0" indent="0" algn="ctr">
              <a:buNone/>
            </a:pPr>
            <a:r>
              <a:rPr lang="en-US" sz="1400" b="1" dirty="0">
                <a:solidFill>
                  <a:schemeClr val="tx2"/>
                </a:solidFill>
              </a:rPr>
              <a:t>No: add to table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Integration, Frontend and Testing</a:t>
            </a:r>
            <a:endParaRPr lang="en-US" sz="3200" dirty="0"/>
          </a:p>
        </p:txBody>
      </p:sp>
      <p:sp>
        <p:nvSpPr>
          <p:cNvPr id="5" name="File Badge"/>
          <p:cNvSpPr/>
          <p:nvPr/>
        </p:nvSpPr>
        <p:spPr>
          <a:xfrm>
            <a:off x="7406640" y="960120"/>
            <a:ext cx="1280160" cy="365760"/>
          </a:xfrm>
          <a:prstGeom prst="roundRect">
            <a:avLst>
              <a:gd name="adj" fmla="val 25000"/>
            </a:avLst>
          </a:prstGeom>
          <a:solidFill>
            <a:schemeClr val="accent1"/>
          </a:solidFill>
          <a:ln w="12700">
            <a:solidFill>
              <a:schemeClr val="accent1"/>
            </a:solidFill>
            <a:prstDash val="solid"/>
          </a:ln>
        </p:spPr>
      </p:sp>
      <p:sp>
        <p:nvSpPr>
          <p:cNvPr id="6" name="File Name"/>
          <p:cNvSpPr txBox="1"/>
          <p:nvPr/>
        </p:nvSpPr>
        <p:spPr>
          <a:xfrm>
            <a:off x="7406640" y="960120"/>
            <a:ext cx="1280160" cy="365760"/>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app.py</a:t>
            </a:r>
            <a:endParaRPr lang="en-US" sz="1300" dirty="0"/>
          </a:p>
        </p:txBody>
      </p:sp>
      <p:sp>
        <p:nvSpPr>
          <p:cNvPr id="7" name="Bullets"/>
          <p:cNvSpPr txBox="1"/>
          <p:nvPr/>
        </p:nvSpPr>
        <p:spPr>
          <a:xfrm>
            <a:off x="457200" y="1554480"/>
            <a:ext cx="4572000" cy="3108960"/>
          </a:xfrm>
          <a:prstGeom prst="rect">
            <a:avLst/>
          </a:prstGeom>
          <a:noFill/>
          <a:ln/>
        </p:spPr>
        <p:txBody>
          <a:bodyPr wrap="square" lIns="0" tIns="0" rIns="0" bIns="0" rtlCol="0" anchor="t"/>
          <a:lstStyle/>
          <a:p>
            <a:pPr marL="190500" indent="-190500">
              <a:spcAft>
                <a:spcPts val="1000"/>
              </a:spcAft>
              <a:buSzPct val="100000"/>
              <a:buChar char="•"/>
            </a:pPr>
            <a:r>
              <a:rPr lang="en-US" sz="1400" dirty="0">
                <a:solidFill>
                  <a:schemeClr val="tx1"/>
                </a:solidFill>
              </a:rPr>
              <a:t>app.py connects the lexer, parser, symbol table and semantic analyzer into one compiler flow.</a:t>
            </a:r>
            <a:endParaRPr lang="en-US" sz="1400" dirty="0"/>
          </a:p>
          <a:p>
            <a:pPr marL="190500" indent="-190500">
              <a:spcAft>
                <a:spcPts val="1000"/>
              </a:spcAft>
              <a:buSzPct val="100000"/>
              <a:buChar char="•"/>
            </a:pPr>
            <a:r>
              <a:rPr lang="en-US" sz="1400" dirty="0">
                <a:solidFill>
                  <a:schemeClr val="tx1"/>
                </a:solidFill>
              </a:rPr>
              <a:t>HTML, CSS and </a:t>
            </a:r>
            <a:r>
              <a:rPr lang="en-US" sz="1400" dirty="0" err="1">
                <a:solidFill>
                  <a:schemeClr val="tx1"/>
                </a:solidFill>
              </a:rPr>
              <a:t>JavaScript:</a:t>
            </a:r>
            <a:r>
              <a:rPr lang="en-US" sz="1400" i="1" dirty="0" err="1">
                <a:solidFill>
                  <a:schemeClr val="accent1"/>
                </a:solidFill>
              </a:rPr>
              <a:t>HTML</a:t>
            </a:r>
            <a:r>
              <a:rPr lang="en-US" sz="1400" i="1" dirty="0">
                <a:solidFill>
                  <a:schemeClr val="accent1"/>
                </a:solidFill>
              </a:rPr>
              <a:t> builds the page, CSS styles it, JavaScript sends code and shows feedback</a:t>
            </a:r>
            <a:endParaRPr lang="en-US" sz="1400" dirty="0"/>
          </a:p>
          <a:p>
            <a:pPr marL="190500" indent="-190500">
              <a:spcAft>
                <a:spcPts val="1000"/>
              </a:spcAft>
              <a:buSzPct val="100000"/>
              <a:buChar char="•"/>
            </a:pPr>
            <a:r>
              <a:rPr lang="en-US" sz="1400" dirty="0">
                <a:solidFill>
                  <a:schemeClr val="tx1"/>
                </a:solidFill>
              </a:rPr>
              <a:t>test_compiler.py prepares and runs the tests.</a:t>
            </a:r>
            <a:endParaRPr lang="en-US" sz="1400" dirty="0"/>
          </a:p>
        </p:txBody>
      </p:sp>
      <p:sp>
        <p:nvSpPr>
          <p:cNvPr id="8" name="Conclusion Card"/>
          <p:cNvSpPr/>
          <p:nvPr/>
        </p:nvSpPr>
        <p:spPr>
          <a:xfrm>
            <a:off x="5303520" y="1554480"/>
            <a:ext cx="3383280" cy="3108960"/>
          </a:xfrm>
          <a:prstGeom prst="roundRect">
            <a:avLst>
              <a:gd name="adj" fmla="val 2941"/>
            </a:avLst>
          </a:prstGeom>
          <a:solidFill>
            <a:schemeClr val="bg2"/>
          </a:solidFill>
          <a:ln w="12700">
            <a:solidFill>
              <a:schemeClr val="accent4"/>
            </a:solidFill>
            <a:prstDash val="solid"/>
          </a:ln>
        </p:spPr>
      </p:sp>
      <p:sp>
        <p:nvSpPr>
          <p:cNvPr id="9" name="Conclusion Heading"/>
          <p:cNvSpPr txBox="1"/>
          <p:nvPr/>
        </p:nvSpPr>
        <p:spPr>
          <a:xfrm>
            <a:off x="5486400" y="1691640"/>
            <a:ext cx="3017520" cy="365760"/>
          </a:xfrm>
          <a:prstGeom prst="rect">
            <a:avLst/>
          </a:prstGeom>
          <a:noFill/>
          <a:ln/>
        </p:spPr>
        <p:txBody>
          <a:bodyPr wrap="square" lIns="0" tIns="0" rIns="0" bIns="0" rtlCol="0" anchor="ctr"/>
          <a:lstStyle/>
          <a:p>
            <a:pPr marL="0" indent="0">
              <a:buNone/>
            </a:pPr>
            <a:r>
              <a:rPr lang="en-US" sz="1800" b="1" dirty="0">
                <a:solidFill>
                  <a:schemeClr val="tx2"/>
                </a:solidFill>
              </a:rPr>
              <a:t>Conclusion</a:t>
            </a:r>
            <a:endParaRPr lang="en-US" sz="1800" dirty="0"/>
          </a:p>
        </p:txBody>
      </p:sp>
      <p:sp>
        <p:nvSpPr>
          <p:cNvPr id="10" name="Conclusion Text"/>
          <p:cNvSpPr txBox="1"/>
          <p:nvPr/>
        </p:nvSpPr>
        <p:spPr>
          <a:xfrm>
            <a:off x="5486400" y="2148840"/>
            <a:ext cx="3017520" cy="1554480"/>
          </a:xfrm>
          <a:prstGeom prst="rect">
            <a:avLst/>
          </a:prstGeom>
          <a:noFill/>
          <a:ln/>
        </p:spPr>
        <p:txBody>
          <a:bodyPr wrap="square" lIns="0" tIns="0" rIns="0" bIns="0" rtlCol="0" anchor="t"/>
          <a:lstStyle/>
          <a:p>
            <a:pPr marL="0" indent="0">
              <a:buNone/>
            </a:pPr>
            <a:r>
              <a:rPr lang="en-US" sz="1400" dirty="0">
                <a:solidFill>
                  <a:schemeClr val="tx1"/>
                </a:solidFill>
              </a:rPr>
              <a:t>The Variable Declaration Compiler identifies tokens, validates syntax and detects duplicate declarations, then gives clear feedback to the user.</a:t>
            </a:r>
            <a:endParaRPr lang="en-US" sz="1400" dirty="0"/>
          </a:p>
        </p:txBody>
      </p:sp>
      <p:sp>
        <p:nvSpPr>
          <p:cNvPr id="11" name="Thank You"/>
          <p:cNvSpPr txBox="1"/>
          <p:nvPr/>
        </p:nvSpPr>
        <p:spPr>
          <a:xfrm>
            <a:off x="5486400" y="3840480"/>
            <a:ext cx="3017520" cy="548640"/>
          </a:xfrm>
          <a:prstGeom prst="rect">
            <a:avLst/>
          </a:prstGeom>
          <a:noFill/>
          <a:ln/>
        </p:spPr>
        <p:txBody>
          <a:bodyPr wrap="square" lIns="0" tIns="0" rIns="0" bIns="0" rtlCol="0" anchor="ctr"/>
          <a:lstStyle/>
          <a:p>
            <a:pPr marL="0" indent="0">
              <a:buNone/>
            </a:pPr>
            <a:r>
              <a:rPr lang="en-US" sz="2400" b="1" dirty="0">
                <a:solidFill>
                  <a:schemeClr val="accent1"/>
                </a:solidFill>
              </a:rPr>
              <a:t>Thank You</a:t>
            </a:r>
            <a:endParaRPr lang="en-US" sz="2400" dirty="0"/>
          </a:p>
        </p:txBody>
      </p:sp>
    </p:spTree>
  </p:cSld>
  <p:clrMapOvr>
    <a:masterClrMapping/>
  </p:clrMapOvr>
</p:sld>
</file>

<file path=ppt/theme/theme1.xml><?xml version="1.0" encoding="utf-8"?>
<a:theme xmlns:a="http://schemas.openxmlformats.org/drawingml/2006/main" name="VDC Blue">
  <a:themeElements>
    <a:clrScheme name="VDC Blue">
      <a:dk1>
        <a:srgbClr val="1F2937"/>
      </a:dk1>
      <a:lt1>
        <a:srgbClr val="FFFFFF"/>
      </a:lt1>
      <a:dk2>
        <a:srgbClr val="0B2A5B"/>
      </a:dk2>
      <a:lt2>
        <a:srgbClr val="EAF2FB"/>
      </a:lt2>
      <a:accent1>
        <a:srgbClr val="2F6FBF"/>
      </a:accent1>
      <a:accent2>
        <a:srgbClr val="6FA8DC"/>
      </a:accent2>
      <a:accent3>
        <a:srgbClr val="0B2A5B"/>
      </a:accent3>
      <a:accent4>
        <a:srgbClr val="9DC3E6"/>
      </a:accent4>
      <a:accent5>
        <a:srgbClr val="4A5568"/>
      </a:accent5>
      <a:accent6>
        <a:srgbClr val="D6E6F7"/>
      </a:accent6>
      <a:hlink>
        <a:srgbClr val="2F6FBF"/>
      </a:hlink>
      <a:folHlink>
        <a:srgbClr val="4A5568"/>
      </a:folHlink>
    </a:clrScheme>
    <a:fontScheme name="VDC Blu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VDC Blue</vt:lpstr>
      <vt:lpstr>Variable Declaration Compiler</vt:lpstr>
      <vt:lpstr>Project Overview</vt:lpstr>
      <vt:lpstr>System Architecture</vt:lpstr>
      <vt:lpstr>Lexical Analyzer</vt:lpstr>
      <vt:lpstr>CFG and Grammar</vt:lpstr>
      <vt:lpstr>Syntax Analyzer (Parser)</vt:lpstr>
      <vt:lpstr>Symbol Table</vt:lpstr>
      <vt:lpstr>Semantic Analyzer</vt:lpstr>
      <vt:lpstr>Integration, Frontend and Testing</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Variable Declaration Compiler</dc:title>
  <dc:subject>PptxGenJS Presentation</dc:subject>
  <dc:creator>PptxGenJS</dc:creator>
  <cp:lastModifiedBy>Naveena Thomas</cp:lastModifiedBy>
  <cp:revision>4</cp:revision>
  <dcterms:created xsi:type="dcterms:W3CDTF">2026-10-22T05:21:58Z</dcterms:created>
  <dcterms:modified xsi:type="dcterms:W3CDTF">2026-10-22T06:49:14Z</dcterms:modified>
</cp:coreProperties>
</file>